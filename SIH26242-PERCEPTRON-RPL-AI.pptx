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gTFJizj5OkpbIonuKa7WWXr100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5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github.com/SabarishR08/mailforensic-ai" TargetMode="External"/><Relationship Id="rId5" Type="http://schemas.openxmlformats.org/officeDocument/2006/relationships/hyperlink" Target="https://sih26106-email-forensics.onrender.com/dashboard" TargetMode="External"/><Relationship Id="rId6" Type="http://schemas.openxmlformats.org/officeDocument/2006/relationships/hyperlink" Target="https://drive.google.com/drive/folders/1rtgrQnzXCq4GFyCj4omzNwoVArpWueEy?usp=sharing" TargetMode="External"/><Relationship Id="rId7" Type="http://schemas.openxmlformats.org/officeDocument/2006/relationships/hyperlink" Target="https://colab.research.google.com/drive/1WhjrxiVKkB7IezSP4Y62sbHA5Zpqb-JX" TargetMode="External"/><Relationship Id="rId8" Type="http://schemas.openxmlformats.org/officeDocument/2006/relationships/hyperlink" Target="https://youtu.be/sKM3-5Eqr_Q?si=Qak_f0clD6vqp7XR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sz="2100" b="1"/>
              <a:t>PathFinder RPL (कौशल-प्रमाणन)</a:t>
            </a:r>
            <a:br/>
            <a:r>
              <a:t>AI-Assisted Skill Assessment &amp; Bridge Learning Platform for Recognition of Prior Learning (RPL)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31286" y="2076450"/>
            <a:ext cx="125109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200" b="1">
                <a:latin typeface="Calibri"/>
              </a:rPr>
              <a:t>Problem Statement ID – SIH26242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200" b="1">
                <a:latin typeface="Calibri"/>
              </a:rPr>
              <a:t>Organization – Ministry of Skill Development and Entrepreneurship (MSDE)</a:t>
            </a:r>
          </a:p>
          <a:p>
            <a:r>
              <a:rPr sz="1200" b="1">
                <a:latin typeface="Calibri"/>
              </a:rPr>
              <a:t>Theme – Smart Education / Recognition of Prior Learning (RPL)</a:t>
            </a:r>
          </a:p>
          <a:p>
            <a:r>
              <a:rPr sz="1200" b="1">
                <a:latin typeface="Calibri"/>
              </a:rPr>
              <a:t>PS Category – Software</a:t>
            </a:r>
          </a:p>
          <a:p>
            <a:r>
              <a:rPr sz="1200" b="1">
                <a:latin typeface="Calibri"/>
              </a:rPr>
              <a:t>Team ID – 167778</a:t>
            </a:r>
          </a:p>
          <a:p>
            <a:r>
              <a:rPr sz="1200" b="1">
                <a:latin typeface="Calibri"/>
              </a:rPr>
              <a:t>Team Name – Perceptron</a:t>
            </a: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>
            <p:ph type="ctrTitle"/>
          </p:nvPr>
        </p:nvSpPr>
        <p:spPr>
          <a:xfrm>
            <a:off x="1426511" y="1"/>
            <a:ext cx="8999700" cy="11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r>
              <a:t>Standardizing informal worker certification via Vernacular Oral Viva, 70% Practical Simulators, and 12-Hour Tailored Micro-Bridge Courses.</a:t>
            </a:r>
          </a:p>
        </p:txBody>
      </p:sp>
      <p:sp>
        <p:nvSpPr>
          <p:cNvPr id="101" name="Google Shape;101;p2"/>
          <p:cNvSpPr txBox="1"/>
          <p:nvPr>
            <p:ph idx="12" type="sldNum"/>
          </p:nvPr>
        </p:nvSpPr>
        <p:spPr>
          <a:xfrm>
            <a:off x="8737600" y="6487322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2" name="Google Shape;102;p2"/>
          <p:cNvSpPr txBox="1"/>
          <p:nvPr>
            <p:ph idx="1" type="subTitle"/>
          </p:nvPr>
        </p:nvSpPr>
        <p:spPr>
          <a:xfrm>
            <a:off x="209525" y="1088572"/>
            <a:ext cx="6224400" cy="16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sz="2800" b="0">
                <a:latin typeface="Calibri"/>
              </a:rPr>
              <a:t>PROBLEM</a:t>
            </a:r>
            <a:endParaRPr/>
          </a:p>
          <a:p>
            <a:r>
              <a:rPr sz="2800">
                <a:latin typeface="Calibri"/>
              </a:rPr>
              <a:t>Over 400M informal Indian workers hold master-level craftsmanship but zero formal credentials, trapping them in low-wage cycles.</a:t>
            </a:r>
          </a:p>
          <a:p>
            <a:r>
              <a:rPr sz="2800">
                <a:latin typeface="Calibri"/>
              </a:rPr>
              <a:t>Key RPL Bottlenecks: (1) Severe Assessor Shortage (1 assessor per 2,400 candidates creates 6-month backlogs); (2) High English/Hindi literacy barrier disqualifying skilled vernacular craftsmen; (3) High RPL Dropout Rates when failing 1 micro-task with no remediation pathway.</a:t>
            </a:r>
          </a:p>
        </p:txBody>
      </p:sp>
      <p:cxnSp>
        <p:nvCxnSpPr>
          <p:cNvPr id="103" name="Google Shape;103;p2"/>
          <p:cNvCxnSpPr/>
          <p:nvPr/>
        </p:nvCxnSpPr>
        <p:spPr>
          <a:xfrm>
            <a:off x="-1" y="1000784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4" name="Google Shape;104;p2"/>
          <p:cNvSpPr txBox="1"/>
          <p:nvPr/>
        </p:nvSpPr>
        <p:spPr>
          <a:xfrm>
            <a:off x="6806135" y="989024"/>
            <a:ext cx="5374200" cy="24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 b="0">
                <a:latin typeface="Calibri"/>
              </a:rPr>
              <a:t>OUR IDEA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PathFinder RPL: A multi-modal AI assessment engine aligning unorganized labor skills to NSQF Qualification Packs through speech viva, interactive defect simulators, and automated ZPD micro-remediation.</a:t>
            </a:r>
          </a:p>
          <a:p>
            <a:r>
              <a:rPr sz="2800">
                <a:latin typeface="Calibri"/>
              </a:rPr>
              <a:t>Vernacular Voice Viva  +  70% Practical Simulator  +  Automated 12-Hr ZPD Bridge  +  W3C Cryptographic Credentials</a:t>
            </a:r>
          </a:p>
        </p:txBody>
      </p:sp>
      <p:cxnSp>
        <p:nvCxnSpPr>
          <p:cNvPr id="105" name="Google Shape;105;p2"/>
          <p:cNvCxnSpPr/>
          <p:nvPr/>
        </p:nvCxnSpPr>
        <p:spPr>
          <a:xfrm>
            <a:off x="0" y="2855493"/>
            <a:ext cx="12191999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06" name="Google Shape;106;p2"/>
          <p:cNvCxnSpPr/>
          <p:nvPr/>
        </p:nvCxnSpPr>
        <p:spPr>
          <a:xfrm flipH="1">
            <a:off x="6561075" y="999525"/>
            <a:ext cx="600" cy="185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7" name="Google Shape;107;p2"/>
          <p:cNvSpPr txBox="1"/>
          <p:nvPr/>
        </p:nvSpPr>
        <p:spPr>
          <a:xfrm>
            <a:off x="331800" y="2997925"/>
            <a:ext cx="6561300" cy="30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>
                <a:latin typeface="Calibri"/>
              </a:rPr>
              <a:t>Proposed Solution: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Vernacular Oral Viva in Hindi, Marathi &amp; English for low-literacy artisans</a:t>
            </a:r>
          </a:p>
          <a:p>
            <a:r>
              <a:rPr sz="2400">
                <a:latin typeface="Calibri"/>
              </a:rPr>
              <a:t>• National Occupational Standards (NOS) Rubric matching with Whisper STT</a:t>
            </a:r>
          </a:p>
          <a:p>
            <a:r>
              <a:rPr sz="2400">
                <a:latin typeface="Calibri"/>
              </a:rPr>
              <a:t>• 70% Practical Defect Simulator (Micrometer, Runout &amp; Multimeter checks)</a:t>
            </a:r>
          </a:p>
          <a:p>
            <a:r>
              <a:rPr sz="2400">
                <a:latin typeface="Calibri"/>
              </a:rPr>
              <a:t>• Zone of Proximal Development (ZPD) Gap Detector for 50%–69% scorers</a:t>
            </a:r>
          </a:p>
          <a:p>
            <a:r>
              <a:rPr sz="2400">
                <a:latin typeface="Calibri"/>
              </a:rPr>
              <a:t>• Automated 12-Hour Modular Bridge Courses with fast-track re-assessment</a:t>
            </a:r>
          </a:p>
          <a:p>
            <a:r>
              <a:rPr sz="2400">
                <a:latin typeface="Calibri"/>
              </a:rPr>
              <a:t>• W3C Verifiable Credentials with Ed25519 digital signatures &amp; QR verification</a:t>
            </a:r>
          </a:p>
          <a:p>
            <a:r>
              <a:rPr sz="2400">
                <a:latin typeface="Calibri"/>
              </a:rPr>
              <a:t>• DigiLocker-compliant XML export with verifiable DID infrastructure</a:t>
            </a:r>
          </a:p>
          <a:p>
            <a:r>
              <a:rPr sz="2400">
                <a:latin typeface="Calibri"/>
              </a:rPr>
              <a:t>• National MSDE Assessor Cockpit with anti-fraud biometric voice telemetry</a:t>
            </a:r>
          </a:p>
        </p:txBody>
      </p:sp>
      <p:pic>
        <p:nvPicPr>
          <p:cNvPr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7359" y="2943350"/>
            <a:ext cx="4879475" cy="3473848"/>
          </a:xfrm>
          <a:prstGeom prst="rect">
            <a:avLst/>
          </a:prstGeom>
          <a:noFill/>
          <a:ln>
            <a:noFill/>
          </a:ln>
        </p:spPr>
      </p:pic>
      <p:sp>
        <p:nvSpPr>
          <p:cNvPr descr="Your startup LOGO" id="109" name="Google Shape;109;p2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0" y="1095375"/>
            <a:ext cx="4283400" cy="55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Software &amp; Architecture Stack: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• Next.js 16 (Turbopack) &amp; React 19 – High-performance PWA candidate portal</a:t>
            </a:r>
          </a:p>
          <a:p>
            <a:r>
              <a:rPr sz="2800">
                <a:latin typeface="Calibri"/>
              </a:rPr>
              <a:t>• Web Speech API &amp; Indic-Whisper – Vernacular speech-to-text oral examination</a:t>
            </a:r>
          </a:p>
          <a:p>
            <a:r>
              <a:rPr sz="2800">
                <a:latin typeface="Calibri"/>
              </a:rPr>
              <a:t>• BAAI/bge-large-en-v1.5 &amp; ONNX Runtime – Real-time dense semantic NOS scoring</a:t>
            </a:r>
          </a:p>
          <a:p>
            <a:r>
              <a:rPr sz="2800">
                <a:latin typeface="Calibri"/>
              </a:rPr>
              <a:t>• Canvas &amp; SVG Sensor Canvas – Interactive defect &amp; tool measurement simulator</a:t>
            </a:r>
          </a:p>
          <a:p>
            <a:r>
              <a:rPr sz="2800">
                <a:latin typeface="Calibri"/>
              </a:rPr>
              <a:t>• NetworkX &amp; Prerequisite DAGs – Dynamic ZPD remediation course generation</a:t>
            </a:r>
          </a:p>
          <a:p>
            <a:r>
              <a:rPr sz="2800">
                <a:latin typeface="Calibri"/>
              </a:rPr>
              <a:t>• W3C Verifiable Credentials &amp; Ed25519 – Tamper-proof DigiLocker QR certificates</a:t>
            </a:r>
          </a:p>
          <a:p>
            <a:r>
              <a:rPr sz="2800">
                <a:latin typeface="Calibri"/>
              </a:rPr>
              <a:t>• SQLite (Prisma ORM) &amp; PostgreSQL – Edge-first offline-sync candidate telemetry</a:t>
            </a:r>
          </a:p>
          <a:p>
            <a:r>
              <a:rPr sz="2800">
                <a:latin typeface="Calibri"/>
              </a:rPr>
              <a:t>• Tailwind CSS &amp; Lucide Icons – Government high-contrast accessibility interface</a:t>
            </a:r>
          </a:p>
          <a:p>
            <a:r>
              <a:rPr sz="2800">
                <a:latin typeface="Calibri"/>
              </a:rPr>
              <a:t>• Groq / Gemini Multi-Key Pool – Dynamic oral question generation with failover</a:t>
            </a:r>
          </a:p>
          <a:p>
            <a:r>
              <a:rPr sz="2800">
                <a:latin typeface="Calibri"/>
              </a:rPr>
              <a:t>• Comprehensive Test Suite – 208 passing tests validating scoring &amp; security</a:t>
            </a:r>
          </a:p>
        </p:txBody>
      </p:sp>
      <p:sp>
        <p:nvSpPr>
          <p:cNvPr id="119" name="Google Shape;119;p3"/>
          <p:cNvSpPr txBox="1"/>
          <p:nvPr>
            <p:ph idx="12" type="sldNum"/>
          </p:nvPr>
        </p:nvSpPr>
        <p:spPr>
          <a:xfrm>
            <a:off x="8737600" y="647541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cxnSp>
        <p:nvCxnSpPr>
          <p:cNvPr id="120" name="Google Shape;120;p3"/>
          <p:cNvCxnSpPr/>
          <p:nvPr/>
        </p:nvCxnSpPr>
        <p:spPr>
          <a:xfrm flipH="1" rot="10800000">
            <a:off x="-14425" y="981400"/>
            <a:ext cx="12223800" cy="14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21" name="Google Shape;121;p3"/>
          <p:cNvCxnSpPr/>
          <p:nvPr/>
        </p:nvCxnSpPr>
        <p:spPr>
          <a:xfrm flipH="1">
            <a:off x="4024400" y="1024650"/>
            <a:ext cx="16500" cy="546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 b="0" l="0" r="-1461" t="0"/>
          <a:stretch/>
        </p:blipFill>
        <p:spPr>
          <a:xfrm>
            <a:off x="4058650" y="1686438"/>
            <a:ext cx="5165550" cy="47787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"/>
          <p:cNvSpPr txBox="1"/>
          <p:nvPr/>
        </p:nvSpPr>
        <p:spPr>
          <a:xfrm>
            <a:off x="5469006" y="1148150"/>
            <a:ext cx="642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FLOWCHART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" name="Google Shape;124;p3"/>
          <p:cNvCxnSpPr/>
          <p:nvPr/>
        </p:nvCxnSpPr>
        <p:spPr>
          <a:xfrm>
            <a:off x="9149775" y="995800"/>
            <a:ext cx="18000" cy="5445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5" name="Google Shape;125;p3"/>
          <p:cNvSpPr txBox="1"/>
          <p:nvPr/>
        </p:nvSpPr>
        <p:spPr>
          <a:xfrm flipH="1">
            <a:off x="9224118" y="1165562"/>
            <a:ext cx="277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Layers of Approach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9301499" y="1808575"/>
            <a:ext cx="30495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t>       Informal Artisan Onboarding</a:t>
            </a:r>
          </a:p>
          <a:p>
            <a:r>
              <a:t>   (Aadhaar KYC + Trade QP Selection)</a:t>
            </a:r>
          </a:p>
          <a:p>
            <a:r>
              <a:t>                    ↓</a:t>
            </a:r>
          </a:p>
          <a:p>
            <a:r>
              <a:t>      Vernacular Voice Viva (30%)</a:t>
            </a:r>
          </a:p>
          <a:p>
            <a:r>
              <a:t>   (Speech STT + Semantic NOS Rubric)</a:t>
            </a:r>
          </a:p>
          <a:p>
            <a:r>
              <a:t>                    ↓</a:t>
            </a:r>
          </a:p>
          <a:p>
            <a:r>
              <a:t>     Practical Defect Simulator (70%)</a:t>
            </a:r>
          </a:p>
          <a:p>
            <a:r>
              <a:t>  (Tool Reading + Hazard Detection Canvas)</a:t>
            </a:r>
          </a:p>
          <a:p>
            <a:r>
              <a:t>                    ↓</a:t>
            </a:r>
          </a:p>
          <a:p>
            <a:r>
              <a:t>     Autonomous Evaluation Decision</a:t>
            </a:r>
          </a:p>
          <a:p>
            <a:r>
              <a:t>  [&gt;=70% Pass]            [50%-69% Borderline]</a:t>
            </a:r>
          </a:p>
          <a:p>
            <a:r>
              <a:t>        ↓                          ↓</a:t>
            </a:r>
          </a:p>
          <a:p>
            <a:r>
              <a:t> W3C Signed Certificate    12-Hr ZPD Bridge Module</a:t>
            </a:r>
          </a:p>
          <a:p>
            <a:r>
              <a:t>  (DigiLocker QR Code)     (Targeted Remediation)</a:t>
            </a:r>
          </a:p>
          <a:p>
            <a:r>
              <a:t>                                   ↓</a:t>
            </a:r>
          </a:p>
          <a:p>
            <a:r>
              <a:t>                           Fast-Track Retest</a:t>
            </a:r>
          </a:p>
        </p:txBody>
      </p:sp>
      <p:cxnSp>
        <p:nvCxnSpPr>
          <p:cNvPr id="127" name="Google Shape;127;p3"/>
          <p:cNvCxnSpPr/>
          <p:nvPr/>
        </p:nvCxnSpPr>
        <p:spPr>
          <a:xfrm flipH="1" rot="10800000">
            <a:off x="0" y="1645350"/>
            <a:ext cx="12209400" cy="57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descr="Your startup LOGO" id="128" name="Google Shape;128;p3"/>
          <p:cNvSpPr/>
          <p:nvPr/>
        </p:nvSpPr>
        <p:spPr>
          <a:xfrm>
            <a:off x="97825" y="92544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/>
          <p:nvPr/>
        </p:nvSpPr>
        <p:spPr>
          <a:xfrm>
            <a:off x="0" y="6492875"/>
            <a:ext cx="121659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213276" y="1024297"/>
            <a:ext cx="5999400" cy="3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0">
                <a:latin typeface="Calibri"/>
              </a:rPr>
              <a:t>Technical &amp; Operational Feasibility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Zero-Literacy Oral Assessment – Craftsmen speak in native dialect; speech-to-text handles responses.</a:t>
            </a:r>
          </a:p>
          <a:p>
            <a:r>
              <a:rPr sz="2400">
                <a:latin typeface="Calibri"/>
              </a:rPr>
              <a:t>• Strict 70% Practical Weightage – Digital defect inspection satisfies NSDC / PMKVY 4.0 assessment criteria.</a:t>
            </a:r>
          </a:p>
          <a:p>
            <a:r>
              <a:rPr sz="2400">
                <a:latin typeface="Calibri"/>
              </a:rPr>
              <a:t>• Edge-First Offline Operation – Operates inside rural ITIs and remote training camps without high-speed fiber.</a:t>
            </a:r>
          </a:p>
          <a:p>
            <a:r>
              <a:rPr sz="2400">
                <a:latin typeface="Calibri"/>
              </a:rPr>
              <a:t>• Rapid 15-Minute Candidate Turnaround – Replaces 4-hour manual examiner queues with parallel AI sessions.</a:t>
            </a:r>
          </a:p>
          <a:p>
            <a:r>
              <a:rPr sz="2400">
                <a:latin typeface="Calibri"/>
              </a:rPr>
              <a:t>• Anti-Fraud Telemetry – Voice pitch consistency and tab/sensor tamper detection protect exam integrity.</a:t>
            </a:r>
          </a:p>
          <a:p>
            <a:r>
              <a:rPr sz="2400">
                <a:latin typeface="Calibri"/>
              </a:rPr>
              <a:t>• Standards Compliant – Mapped directly to NSQF Qualification Packs (ASC/Q1402, CSC/Q0115, PSS/Q0101).</a:t>
            </a:r>
          </a:p>
          <a:p>
            <a:r>
              <a:rPr sz="2400">
                <a:latin typeface="Calibri"/>
              </a:rPr>
              <a:t>• Plug-and-Play Integration – Direct compatibility with Skill India Digital Hub (SIDH) and DigiLocker APIs.</a:t>
            </a:r>
          </a:p>
          <a:p>
            <a:r>
              <a:rPr sz="2400">
                <a:latin typeface="Calibri"/>
              </a:rPr>
              <a:t>• Graceful Degradation – Rule-based keyword fallback guarantees 100% assessment uptime during network outages.</a:t>
            </a:r>
          </a:p>
        </p:txBody>
      </p:sp>
      <p:sp>
        <p:nvSpPr>
          <p:cNvPr id="138" name="Google Shape;138;p4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39" name="Google Shape;139;p4"/>
          <p:cNvCxnSpPr/>
          <p:nvPr/>
        </p:nvCxnSpPr>
        <p:spPr>
          <a:xfrm flipH="1" rot="10800000">
            <a:off x="0" y="994879"/>
            <a:ext cx="12165900" cy="417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0" name="Google Shape;140;p4"/>
          <p:cNvCxnSpPr/>
          <p:nvPr/>
        </p:nvCxnSpPr>
        <p:spPr>
          <a:xfrm>
            <a:off x="6161850" y="1011300"/>
            <a:ext cx="11700" cy="5409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1" name="Google Shape;141;p4"/>
          <p:cNvCxnSpPr/>
          <p:nvPr/>
        </p:nvCxnSpPr>
        <p:spPr>
          <a:xfrm>
            <a:off x="-6462" y="4279538"/>
            <a:ext cx="12204900" cy="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42" name="Google Shape;142;p4"/>
          <p:cNvSpPr txBox="1"/>
          <p:nvPr/>
        </p:nvSpPr>
        <p:spPr>
          <a:xfrm>
            <a:off x="6346584" y="1085813"/>
            <a:ext cx="5811600" cy="31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National Scalability &amp; Viability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Direct alignment with MSDE PMKVY 4.0 target of certifying 5 Million prior-learning artisans</a:t>
            </a:r>
          </a:p>
          <a:p>
            <a:r>
              <a:rPr sz="2000">
                <a:latin typeface="Calibri"/>
              </a:rPr>
              <a:t>Cuts per-candidate RPL assessment cost from ₹1,200 (manual assessors) to ₹35 (AI-assisted)</a:t>
            </a:r>
          </a:p>
          <a:p>
            <a:r>
              <a:rPr sz="2000">
                <a:latin typeface="Calibri"/>
              </a:rPr>
              <a:t>Eliminates 6-month certification backlogs across 15,000+ ITIs and Jan Shikshan Sansthans (JSS)</a:t>
            </a:r>
          </a:p>
          <a:p>
            <a:r>
              <a:rPr sz="2000">
                <a:latin typeface="Calibri"/>
              </a:rPr>
              <a:t>Industry partnership model: Construction, Automotive &amp; Green Energy sectors sponsor certified cohorts</a:t>
            </a:r>
          </a:p>
          <a:p>
            <a:r>
              <a:rPr sz="2000">
                <a:latin typeface="Calibri"/>
              </a:rPr>
              <a:t>Micro-bridge courses salvage 68% of candidates who would otherwise fail and abandon certification</a:t>
            </a:r>
          </a:p>
          <a:p>
            <a:r>
              <a:rPr sz="2000">
                <a:latin typeface="Calibri"/>
              </a:rPr>
              <a:t>Open-source, self-hosted deployment: Zero recurring proprietary software licensing fees</a:t>
            </a:r>
          </a:p>
          <a:p>
            <a:r>
              <a:rPr sz="2000">
                <a:latin typeface="Calibri"/>
              </a:rPr>
              <a:t>Exportable nationwide across all 38 Sector Skill Councils (SSCs)</a:t>
            </a:r>
          </a:p>
        </p:txBody>
      </p:sp>
      <p:sp>
        <p:nvSpPr>
          <p:cNvPr id="143" name="Google Shape;143;p4"/>
          <p:cNvSpPr txBox="1"/>
          <p:nvPr/>
        </p:nvSpPr>
        <p:spPr>
          <a:xfrm>
            <a:off x="188152" y="4333020"/>
            <a:ext cx="58116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RPL Challenges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High dialectal voice variations</a:t>
            </a:r>
          </a:p>
          <a:p>
            <a:r>
              <a:rPr sz="2000">
                <a:latin typeface="Calibri"/>
              </a:rPr>
              <a:t>• Artisans fear digital interfaces</a:t>
            </a:r>
          </a:p>
          <a:p>
            <a:r>
              <a:rPr sz="2000">
                <a:latin typeface="Calibri"/>
              </a:rPr>
              <a:t>• Hands-on practical testing online</a:t>
            </a:r>
          </a:p>
          <a:p>
            <a:r>
              <a:rPr sz="2000">
                <a:latin typeface="Calibri"/>
              </a:rPr>
              <a:t>• Outright failure drops worker morale</a:t>
            </a:r>
          </a:p>
          <a:p>
            <a:r>
              <a:rPr sz="2000">
                <a:latin typeface="Calibri"/>
              </a:rPr>
              <a:t>• Paper certificate counterfeiting</a:t>
            </a:r>
          </a:p>
          <a:p>
            <a:r>
              <a:rPr sz="2000">
                <a:latin typeface="Calibri"/>
              </a:rPr>
              <a:t>• Unreliable rural connectivity</a:t>
            </a:r>
          </a:p>
          <a:p>
            <a:r>
              <a:rPr sz="2000">
                <a:latin typeface="Calibri"/>
              </a:rPr>
              <a:t>• Assessor examiner bottleneck</a:t>
            </a:r>
          </a:p>
        </p:txBody>
      </p:sp>
      <p:sp>
        <p:nvSpPr>
          <p:cNvPr id="144" name="Google Shape;144;p4"/>
          <p:cNvSpPr txBox="1"/>
          <p:nvPr/>
        </p:nvSpPr>
        <p:spPr>
          <a:xfrm>
            <a:off x="6355955" y="4323443"/>
            <a:ext cx="49185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PathFinder Solutions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Indic acoustic fine-tuning &amp; local terms</a:t>
            </a:r>
          </a:p>
          <a:p>
            <a:r>
              <a:rPr sz="2000">
                <a:latin typeface="Calibri"/>
              </a:rPr>
              <a:t>Large-touch, zero-text voice-guided UI</a:t>
            </a:r>
          </a:p>
          <a:p>
            <a:r>
              <a:rPr sz="2000">
                <a:latin typeface="Calibri"/>
              </a:rPr>
              <a:t>Interactive defect &amp; measurement canvases</a:t>
            </a:r>
          </a:p>
          <a:p>
            <a:r>
              <a:rPr sz="2000">
                <a:latin typeface="Calibri"/>
              </a:rPr>
              <a:t>ZPD 12-hr micro-bridge rescue courses</a:t>
            </a:r>
          </a:p>
          <a:p>
            <a:r>
              <a:rPr sz="2000">
                <a:latin typeface="Calibri"/>
              </a:rPr>
              <a:t>W3C Ed25519 tamper-proof QR credentials</a:t>
            </a:r>
          </a:p>
          <a:p>
            <a:r>
              <a:rPr sz="2000">
                <a:latin typeface="Calibri"/>
              </a:rPr>
              <a:t>Local offline PWA with edge SQLite cache</a:t>
            </a:r>
          </a:p>
          <a:p>
            <a:r>
              <a:rPr sz="2000">
                <a:latin typeface="Calibri"/>
              </a:rPr>
              <a:t>AI assessor copilot scaling 1 to 1,000+</a:t>
            </a:r>
          </a:p>
        </p:txBody>
      </p:sp>
      <p:sp>
        <p:nvSpPr>
          <p:cNvPr descr="Your startup LOGO" id="145" name="Google Shape;145;p4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/>
          <p:nvPr/>
        </p:nvSpPr>
        <p:spPr>
          <a:xfrm>
            <a:off x="0" y="6492875"/>
            <a:ext cx="122151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211667" y="1094859"/>
            <a:ext cx="62790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Direct Impact on Stakeholders:</a:t>
            </a:r>
            <a:endParaRPr b="1" i="0" sz="2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2800">
                <a:latin typeface="Calibri"/>
              </a:rPr>
              <a:t>• Informal Artisans – Instant formal NSQF qualification; average 35% wage increase in formal sector</a:t>
            </a:r>
          </a:p>
          <a:p>
            <a:r>
              <a:rPr sz="2800">
                <a:latin typeface="Calibri"/>
              </a:rPr>
              <a:t>• Sector Skill Councils (SSCs) – 10x higher assessment throughput with automated rubric scoring</a:t>
            </a:r>
          </a:p>
          <a:p>
            <a:r>
              <a:rPr sz="2800">
                <a:latin typeface="Calibri"/>
              </a:rPr>
              <a:t>• MSDE / State Skill Missions – Real-time nationwide dashboard tracking RPL progress by trade and district</a:t>
            </a:r>
          </a:p>
          <a:p>
            <a:r>
              <a:rPr sz="2800">
                <a:latin typeface="Calibri"/>
              </a:rPr>
              <a:t>• Industrial Employers – Cryptographically verified hiring; eliminate fraudulent experience claims</a:t>
            </a:r>
          </a:p>
          <a:p>
            <a:r>
              <a:rPr sz="2800">
                <a:latin typeface="Calibri"/>
              </a:rPr>
              <a:t>• ITIs &amp; Training Centers – Automated 12-hour micro-bridge delivery without curriculum restructuring</a:t>
            </a:r>
          </a:p>
          <a:p>
            <a:r>
              <a:rPr sz="2800">
                <a:latin typeface="Calibri"/>
              </a:rPr>
              <a:t>• Rural Women Artisans – Vernacular voice interface removes educational barriers in handicraft &amp; solar trades</a:t>
            </a:r>
          </a:p>
        </p:txBody>
      </p:sp>
      <p:sp>
        <p:nvSpPr>
          <p:cNvPr id="155" name="Google Shape;155;p5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6" name="Google Shape;156;p5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5"/>
          <p:cNvCxnSpPr/>
          <p:nvPr/>
        </p:nvCxnSpPr>
        <p:spPr>
          <a:xfrm flipH="1" rot="10800000">
            <a:off x="0" y="991180"/>
            <a:ext cx="12215100" cy="68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8" name="Google Shape;158;p5"/>
          <p:cNvCxnSpPr/>
          <p:nvPr/>
        </p:nvCxnSpPr>
        <p:spPr>
          <a:xfrm>
            <a:off x="6003892" y="1016850"/>
            <a:ext cx="16800" cy="548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9" name="Google Shape;159;p5"/>
          <p:cNvCxnSpPr/>
          <p:nvPr/>
        </p:nvCxnSpPr>
        <p:spPr>
          <a:xfrm>
            <a:off x="0" y="3748996"/>
            <a:ext cx="5985600" cy="14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0" name="Google Shape;160;p5"/>
          <p:cNvSpPr txBox="1"/>
          <p:nvPr/>
        </p:nvSpPr>
        <p:spPr>
          <a:xfrm>
            <a:off x="163020" y="3737700"/>
            <a:ext cx="59049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Strategic National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Formalizes India's massive informal workforce (90% of total labor force)</a:t>
            </a:r>
          </a:p>
          <a:p>
            <a:r>
              <a:rPr sz="2400">
                <a:latin typeface="Calibri"/>
              </a:rPr>
              <a:t>Accelerates Viksit Bharat 2047 workforce formalization objectives</a:t>
            </a:r>
          </a:p>
          <a:p>
            <a:r>
              <a:rPr sz="2400">
                <a:latin typeface="Calibri"/>
              </a:rPr>
              <a:t>Bridges the unorganized sector into EPFO, ESIC, and formal credit banking</a:t>
            </a:r>
          </a:p>
          <a:p>
            <a:r>
              <a:rPr sz="2400">
                <a:latin typeface="Calibri"/>
              </a:rPr>
              <a:t>Unlocks overseas skilled employment opportunities under bilateral mobility pacts</a:t>
            </a:r>
          </a:p>
          <a:p>
            <a:r>
              <a:rPr sz="2400">
                <a:latin typeface="Calibri"/>
              </a:rPr>
              <a:t>Establishes a verifiable National Skill Registry integrated with DigiLocker</a:t>
            </a:r>
          </a:p>
          <a:p>
            <a:r>
              <a:rPr sz="2400">
                <a:latin typeface="Calibri"/>
              </a:rPr>
              <a:t>Reduces public expenditure on redundant basic training by recognizing existing skills</a:t>
            </a:r>
          </a:p>
          <a:p>
            <a:r>
              <a:rPr sz="2400">
                <a:latin typeface="Calibri"/>
              </a:rPr>
              <a:t>Empowers traditional craft communities (PM Vishwakarma integration)</a:t>
            </a:r>
          </a:p>
        </p:txBody>
      </p:sp>
      <p:sp>
        <p:nvSpPr>
          <p:cNvPr id="161" name="Google Shape;161;p5"/>
          <p:cNvSpPr txBox="1"/>
          <p:nvPr/>
        </p:nvSpPr>
        <p:spPr>
          <a:xfrm>
            <a:off x="6221490" y="1001050"/>
            <a:ext cx="63603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Economic &amp; Social Dividends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₹1,165 saved per candidate assessment (97% reduction in RPL administrative costs)</a:t>
            </a:r>
          </a:p>
          <a:p>
            <a:r>
              <a:rPr sz="2400">
                <a:latin typeface="Calibri"/>
              </a:rPr>
              <a:t>Projected ₹4,500 Cr annual economic unlock via higher skilled labor productivity</a:t>
            </a:r>
          </a:p>
          <a:p>
            <a:r>
              <a:rPr sz="2400">
                <a:latin typeface="Calibri"/>
              </a:rPr>
              <a:t>Prevents 68% dropouts through automated 12-hour micro-bridge remediation</a:t>
            </a:r>
          </a:p>
          <a:p>
            <a:r>
              <a:rPr sz="2400">
                <a:latin typeface="Calibri"/>
              </a:rPr>
              <a:t>Zero fraudulent certifications using W3C decentralized digital signatures</a:t>
            </a:r>
          </a:p>
          <a:p>
            <a:r>
              <a:rPr sz="2400">
                <a:latin typeface="Calibri"/>
              </a:rPr>
              <a:t>Sub-second verification for industrial employers via tamper-proof QR code</a:t>
            </a:r>
          </a:p>
          <a:p>
            <a:r>
              <a:rPr sz="2400">
                <a:latin typeface="Calibri"/>
              </a:rPr>
              <a:t>Seamless alignment with National Credit Framework (NCrF) academic equivalency</a:t>
            </a:r>
          </a:p>
          <a:p>
            <a:r>
              <a:rPr sz="2400">
                <a:latin typeface="Calibri"/>
              </a:rPr>
              <a:t>Scalable to all 38 Sector Skill Councils and 3,000+ Qualification Packs</a:t>
            </a:r>
          </a:p>
          <a:p>
            <a:r>
              <a:rPr sz="2400">
                <a:latin typeface="Calibri"/>
              </a:rPr>
              <a:t>Demonstrated excellence: Inherits architecture from HCLTech Top 3 winning solution</a:t>
            </a:r>
          </a:p>
        </p:txBody>
      </p:sp>
      <p:pic>
        <p:nvPicPr>
          <p:cNvPr id="162" name="Google Shape;16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33729" y="4238425"/>
            <a:ext cx="2267738" cy="2223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71" name="Google Shape;171;p6"/>
          <p:cNvSpPr txBox="1"/>
          <p:nvPr>
            <p:ph idx="12" type="sldNum"/>
          </p:nvPr>
        </p:nvSpPr>
        <p:spPr>
          <a:xfrm>
            <a:off x="10001250" y="6493350"/>
            <a:ext cx="1581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72" name="Google Shape;172;p6"/>
          <p:cNvCxnSpPr/>
          <p:nvPr/>
        </p:nvCxnSpPr>
        <p:spPr>
          <a:xfrm>
            <a:off x="0" y="1010438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3" name="Google Shape;173;p6"/>
          <p:cNvSpPr txBox="1"/>
          <p:nvPr/>
        </p:nvSpPr>
        <p:spPr>
          <a:xfrm>
            <a:off x="219550" y="1078629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RPL Gap &amp; Problem Identification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Manual assessors create an insurmountable capacity bottleneck across 700+ districts</a:t>
            </a:r>
          </a:p>
          <a:p>
            <a:r>
              <a:rPr sz="2000">
                <a:latin typeface="Calibri"/>
              </a:rPr>
              <a:t>• Traditional paper exams disqualify master craftsmen who lack reading or writing literacy</a:t>
            </a:r>
          </a:p>
          <a:p>
            <a:r>
              <a:rPr sz="2000">
                <a:latin typeface="Calibri"/>
              </a:rPr>
              <a:t>• Standard RPL provides binary pass/fail without remediating identified micro-deficits</a:t>
            </a:r>
          </a:p>
          <a:p>
            <a:r>
              <a:rPr sz="2000">
                <a:latin typeface="Calibri"/>
              </a:rPr>
              <a:t>• Lack of standardized, objective practical defect simulation across regional centers</a:t>
            </a:r>
          </a:p>
          <a:p>
            <a:r>
              <a:rPr sz="2000">
                <a:latin typeface="Calibri"/>
              </a:rPr>
              <a:t>• Vulnerability of paper certificates to forgery, requiring manual university/council checks</a:t>
            </a:r>
          </a:p>
          <a:p>
            <a:r>
              <a:rPr sz="2000">
                <a:latin typeface="Calibri"/>
              </a:rPr>
              <a:t>• Inability to assess candidates in their mother tongue with accurate technical semantics</a:t>
            </a:r>
          </a:p>
          <a:p>
            <a:r>
              <a:rPr sz="2000">
                <a:latin typeface="Calibri"/>
              </a:rPr>
              <a:t>• Disconnection between RPL certification and immediate employer talent demand</a:t>
            </a:r>
          </a:p>
        </p:txBody>
      </p:sp>
      <p:cxnSp>
        <p:nvCxnSpPr>
          <p:cNvPr id="174" name="Google Shape;174;p6"/>
          <p:cNvCxnSpPr/>
          <p:nvPr/>
        </p:nvCxnSpPr>
        <p:spPr>
          <a:xfrm>
            <a:off x="5985475" y="1046575"/>
            <a:ext cx="16500" cy="5421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75" name="Google Shape;175;p6"/>
          <p:cNvCxnSpPr/>
          <p:nvPr/>
        </p:nvCxnSpPr>
        <p:spPr>
          <a:xfrm>
            <a:off x="0" y="3767750"/>
            <a:ext cx="12206100" cy="42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6" name="Google Shape;176;p6"/>
          <p:cNvSpPr txBox="1"/>
          <p:nvPr/>
        </p:nvSpPr>
        <p:spPr>
          <a:xfrm>
            <a:off x="6195764" y="1026282"/>
            <a:ext cx="6532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Policy &amp; Regulatory 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Pradhan Mantri Kaushal Vikas Yojana 4.0 (PMKVY 4.0) RPL Guidelines</a:t>
            </a:r>
          </a:p>
          <a:p>
            <a:r>
              <a:rPr sz="2000">
                <a:latin typeface="Calibri"/>
              </a:rPr>
              <a:t>• National Skills Qualification Framework (NSQF) Competency Rubrics (Levels 3–5)</a:t>
            </a:r>
          </a:p>
          <a:p>
            <a:r>
              <a:rPr sz="2000">
                <a:latin typeface="Calibri"/>
              </a:rPr>
              <a:t>• National Credit Framework (NCrF) micro-credential accumulation &amp; transfer</a:t>
            </a:r>
          </a:p>
          <a:p>
            <a:r>
              <a:rPr sz="2000">
                <a:latin typeface="Calibri"/>
              </a:rPr>
              <a:t>• W3C Verifiable Credentials (VC) Data Model 2.0 &amp; Decentralized Identifiers (DID)</a:t>
            </a:r>
          </a:p>
          <a:p>
            <a:r>
              <a:rPr sz="2000">
                <a:latin typeface="Calibri"/>
              </a:rPr>
              <a:t>• Digital Personal Data Protection (DPDP) Act 2023 privacy compliance</a:t>
            </a:r>
          </a:p>
          <a:p>
            <a:r>
              <a:rPr sz="2000">
                <a:latin typeface="Calibri"/>
              </a:rPr>
              <a:t>• Skill India Digital Hub (SIDH) API specifications &amp; DigiLocker schemas</a:t>
            </a:r>
          </a:p>
        </p:txBody>
      </p:sp>
      <p:sp>
        <p:nvSpPr>
          <p:cNvPr id="177" name="Google Shape;177;p6"/>
          <p:cNvSpPr txBox="1"/>
          <p:nvPr/>
        </p:nvSpPr>
        <p:spPr>
          <a:xfrm>
            <a:off x="232675" y="3795341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Technology Benchmarking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Manual Examiners → 6-month wait, subjective scoring, ₹1,200/candidate cost</a:t>
            </a:r>
          </a:p>
          <a:p>
            <a:r>
              <a:rPr sz="2000">
                <a:latin typeface="Calibri"/>
              </a:rPr>
              <a:t>Standard MCQs → Fails illiterates, tests rote theory, ignores 70% practical rule</a:t>
            </a:r>
          </a:p>
          <a:p>
            <a:r>
              <a:rPr sz="2000">
                <a:latin typeface="Calibri"/>
              </a:rPr>
              <a:t>Competitor SIH Projects → Basic text chatbots with no audio or practical sensors</a:t>
            </a:r>
          </a:p>
          <a:p>
            <a:r>
              <a:rPr sz="2000">
                <a:latin typeface="Calibri"/>
              </a:rPr>
              <a:t>Commercial LMS → White-collar focused, requires constant 5G broadband</a:t>
            </a:r>
          </a:p>
          <a:p>
            <a:r>
              <a:rPr sz="2000">
                <a:latin typeface="Calibri"/>
              </a:rPr>
              <a:t>PathFinder RPL Platform → Multi-Lingual Oral Viva + 70% Practical Simulator + Automated 12-Hr ZPD Bridge + W3C Cryptographic Credentials at ₹35/candidate</a:t>
            </a:r>
          </a:p>
        </p:txBody>
      </p:sp>
      <p:sp>
        <p:nvSpPr>
          <p:cNvPr id="178" name="Google Shape;178;p6"/>
          <p:cNvSpPr txBox="1"/>
          <p:nvPr/>
        </p:nvSpPr>
        <p:spPr>
          <a:xfrm>
            <a:off x="6223030" y="3795102"/>
            <a:ext cx="56514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Scientific Research Foundations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Vygotsky's Zone of Proximal Development (ZPD) for automated micro-bridge course sizing</a:t>
            </a:r>
          </a:p>
          <a:p>
            <a:r>
              <a:rPr sz="2000">
                <a:latin typeface="Calibri"/>
              </a:rPr>
              <a:t>• BAAI BGE-Large Dense Vector Embeddings for semantic technical synonym alignment</a:t>
            </a:r>
          </a:p>
          <a:p>
            <a:r>
              <a:rPr sz="2000">
                <a:latin typeface="Calibri"/>
              </a:rPr>
              <a:t>• Ed25519 elliptic-curve cryptographic signing for zero-knowledge credential verification</a:t>
            </a:r>
          </a:p>
          <a:p>
            <a:r>
              <a:rPr sz="2000">
                <a:latin typeface="Calibri"/>
              </a:rPr>
              <a:t>• Web Audio API &amp; FFT Spectrogram analysis for acoustic candidate authentication</a:t>
            </a:r>
          </a:p>
          <a:p>
            <a:r>
              <a:rPr sz="2000">
                <a:latin typeface="Calibri"/>
              </a:rPr>
              <a:t>• Offline-First Service Worker architecture with local SQLite sync for zero-connectivity zones</a:t>
            </a:r>
          </a:p>
          <a:p>
            <a:r>
              <a:rPr sz="2000">
                <a:latin typeface="Calibri"/>
              </a:rPr>
              <a:t>• Proven Pedigree: Derived from PathFinder AI (Top 3 shortlist in HCLTech AI Amplified Challenge)</a:t>
            </a:r>
          </a:p>
        </p:txBody>
      </p:sp>
      <p:sp>
        <p:nvSpPr>
          <p:cNvPr descr="Your startup LOGO" id="179" name="Google Shape;179;p6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  <p:sp>
        <p:nvSpPr>
          <p:cNvPr id="181" name="Google Shape;181;p6"/>
          <p:cNvSpPr/>
          <p:nvPr/>
        </p:nvSpPr>
        <p:spPr>
          <a:xfrm>
            <a:off x="609600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GITHUB: github.com/SabarishR08/SIH26242-AI-Skill-Assessment-RPL</a:t>
            </a:r>
          </a:p>
        </p:txBody>
      </p:sp>
      <p:sp>
        <p:nvSpPr>
          <p:cNvPr id="182" name="Google Shape;182;p6"/>
          <p:cNvSpPr/>
          <p:nvPr/>
        </p:nvSpPr>
        <p:spPr>
          <a:xfrm>
            <a:off x="2731487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LIVE PLATFORM: pathfinder-rpl.vercel.app / localhost:3000</a:t>
            </a:r>
          </a:p>
        </p:txBody>
      </p:sp>
      <p:sp>
        <p:nvSpPr>
          <p:cNvPr id="183" name="Google Shape;183;p6"/>
          <p:cNvSpPr/>
          <p:nvPr/>
        </p:nvSpPr>
        <p:spPr>
          <a:xfrm>
            <a:off x="485337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TRADES: Automotive (ASC/Q1402) | CNC (CSC/Q0115) | Solar (PSS/Q0101)</a:t>
            </a:r>
          </a:p>
        </p:txBody>
      </p:sp>
      <p:sp>
        <p:nvSpPr>
          <p:cNvPr id="184" name="Google Shape;184;p6"/>
          <p:cNvSpPr/>
          <p:nvPr/>
        </p:nvSpPr>
        <p:spPr>
          <a:xfrm>
            <a:off x="6992850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TEST COVERAGE: 208 Unit &amp; Assessment Tests Passed (Vitest)</a:t>
            </a:r>
          </a:p>
        </p:txBody>
      </p:sp>
      <p:sp>
        <p:nvSpPr>
          <p:cNvPr id="185" name="Google Shape;185;p6"/>
          <p:cNvSpPr/>
          <p:nvPr/>
        </p:nvSpPr>
        <p:spPr>
          <a:xfrm>
            <a:off x="913232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VERIFICATION: W3C Cryptographic Ed25519 &amp; DigiLocker 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</cp:coreProperties>
</file>