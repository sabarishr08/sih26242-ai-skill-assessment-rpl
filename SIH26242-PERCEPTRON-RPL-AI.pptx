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Garamond"/>
      <p:regular r:id="rId12"/>
      <p:bold r:id="rId13"/>
      <p:italic r:id="rId14"/>
      <p:boldItalic r:id="rId15"/>
    </p:embeddedFont>
    <p:embeddedFont>
      <p:font typeface="Oswald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8" roundtripDataSignature="AMtx7mhX9Ntchx2csyEx+FFDT5rLNIsm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Garamond-regular.fntdata"/><Relationship Id="rId13" Type="http://schemas.openxmlformats.org/officeDocument/2006/relationships/font" Target="fonts/Garamond-bold.fntdata"/><Relationship Id="rId14" Type="http://schemas.openxmlformats.org/officeDocument/2006/relationships/font" Target="fonts/Garamond-italic.fntdata"/><Relationship Id="rId15" Type="http://schemas.openxmlformats.org/officeDocument/2006/relationships/font" Target="fonts/Garamond-boldItalic.fntdata"/><Relationship Id="rId16" Type="http://schemas.openxmlformats.org/officeDocument/2006/relationships/font" Target="fonts/Oswald-regular.fntdata"/><Relationship Id="rId17" Type="http://schemas.openxmlformats.org/officeDocument/2006/relationships/font" Target="fonts/Oswald-bold.fntdata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</p:sp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</p:sp>
      <p:sp>
        <p:nvSpPr>
          <p:cNvPr id="114" name="Google Shape;11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5" name="Google Shape;115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</p:sp>
      <p:sp>
        <p:nvSpPr>
          <p:cNvPr id="133" name="Google Shape;13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4" name="Google Shape;134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</p:sp>
      <p:sp>
        <p:nvSpPr>
          <p:cNvPr id="150" name="Google Shape;15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1" name="Google Shape;151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</p:sp>
      <p:sp>
        <p:nvSpPr>
          <p:cNvPr id="167" name="Google Shape;16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8" name="Google Shape;168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5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1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7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github.com/SabarishR08/kaushalsetu" TargetMode="External"/><Relationship Id="rId5" Type="http://schemas.openxmlformats.org/officeDocument/2006/relationships/hyperlink" Target="https://kaushalsetu-mh.vercel.app/" TargetMode="External"/><Relationship Id="rId6" Type="http://schemas.openxmlformats.org/officeDocument/2006/relationships/hyperlink" Target="https://drive.google.com/drive/folders/1CQMegPYillQ6zaa0j40s7R80sUiOIB8e?usp=drive_link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>
            <p:ph idx="1" type="subTitle"/>
          </p:nvPr>
        </p:nvSpPr>
        <p:spPr>
          <a:xfrm>
            <a:off x="762715" y="1010843"/>
            <a:ext cx="100296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</a:pPr>
            <a:r>
              <a:rPr sz="3150" b="1">
                <a:latin typeface="Times New Roman"/>
              </a:rPr>
              <a:t>AI-Assisted Skill Assessment Tool for Recognition of Prior Learning (RPL)</a:t>
            </a:r>
            <a:endParaRPr b="1" sz="49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"/>
          <p:cNvSpPr txBox="1"/>
          <p:nvPr>
            <p:ph type="ctrTitle"/>
          </p:nvPr>
        </p:nvSpPr>
        <p:spPr>
          <a:xfrm>
            <a:off x="331286" y="-459680"/>
            <a:ext cx="10363200" cy="2076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sz="4000" b="1">
                <a:latin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976077" y="2476501"/>
            <a:ext cx="12510900" cy="384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200" b="1">
                <a:latin typeface="Arial"/>
              </a:rPr>
              <a:t>Problem Statement ID – SIH26242</a:t>
            </a:r>
          </a:p>
          <a:p>
            <a:r>
              <a:rPr sz="2200" b="1">
                <a:latin typeface="Arial"/>
              </a:rPr>
              <a:t>Theme - Smart Education</a:t>
            </a:r>
          </a:p>
          <a:p>
            <a:r>
              <a:rPr sz="2200" b="1">
                <a:latin typeface="Arial"/>
              </a:rPr>
              <a:t>PS Category- Software</a:t>
            </a:r>
          </a:p>
          <a:p>
            <a:r>
              <a:rPr sz="2200" b="1">
                <a:latin typeface="Arial"/>
              </a:rPr>
              <a:t>Team ID- 167778</a:t>
            </a:r>
          </a:p>
          <a:p>
            <a:r>
              <a:rPr sz="2200" b="1">
                <a:latin typeface="Arial"/>
              </a:rPr>
              <a:t>Team Name - PERCEPTRON</a:t>
            </a:r>
          </a:p>
        </p:txBody>
      </p:sp>
      <p:pic>
        <p:nvPicPr>
          <p:cNvPr id="93" name="Google Shape;93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29869" y="73856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>
            <p:ph type="ctrTitle"/>
          </p:nvPr>
        </p:nvSpPr>
        <p:spPr>
          <a:xfrm>
            <a:off x="1486986" y="136876"/>
            <a:ext cx="8999700" cy="11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sz="1400" b="1">
                <a:latin typeface="Arial"/>
              </a:rPr>
              <a:t>AI-Assisted Recognition of Prior Learning (RPL): Vernacular Voice Viva, Hands-on Tool Telemetry, 12-Hour Micro-Bridge Courses &amp; W3C Verifiable Credentials</a:t>
            </a:r>
            <a:endParaRPr b="1" sz="2400">
              <a:solidFill>
                <a:schemeClr val="accent1"/>
              </a:solidFill>
              <a:highlight>
                <a:schemeClr val="hlink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1" sz="2300">
              <a:solidFill>
                <a:schemeClr val="accen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1" name="Google Shape;101;p2"/>
          <p:cNvSpPr txBox="1"/>
          <p:nvPr>
            <p:ph idx="12" type="sldNum"/>
          </p:nvPr>
        </p:nvSpPr>
        <p:spPr>
          <a:xfrm>
            <a:off x="8737600" y="6487322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1" lang="en-IN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2" name="Google Shape;102;p2"/>
          <p:cNvSpPr txBox="1"/>
          <p:nvPr>
            <p:ph idx="1" type="subTitle"/>
          </p:nvPr>
        </p:nvSpPr>
        <p:spPr>
          <a:xfrm>
            <a:off x="98050" y="1060550"/>
            <a:ext cx="6401400" cy="16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sz="2600" b="1">
                <a:latin typeface="Times New Roman"/>
              </a:rPr>
              <a:t>PROBLEM</a:t>
            </a:r>
          </a:p>
          <a:p>
            <a:r>
              <a:rPr sz="1500" b="1">
                <a:latin typeface="Times New Roman"/>
              </a:rPr>
              <a:t>India's 400M+ unorganized craftsmen face structural RPL bottlenecks: literacy barriers in written MCQ exams, subjective assessor bias, zero access to physical testing rigs in rural areas, rigid pass/fail rejection without remediation, and paper certificate forgery.</a:t>
            </a:r>
          </a:p>
        </p:txBody>
      </p:sp>
      <p:cxnSp>
        <p:nvCxnSpPr>
          <p:cNvPr id="103" name="Google Shape;103;p2"/>
          <p:cNvCxnSpPr/>
          <p:nvPr/>
        </p:nvCxnSpPr>
        <p:spPr>
          <a:xfrm>
            <a:off x="-1" y="1000784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4" name="Google Shape;104;p2"/>
          <p:cNvSpPr txBox="1"/>
          <p:nvPr/>
        </p:nvSpPr>
        <p:spPr>
          <a:xfrm>
            <a:off x="6686325" y="1088575"/>
            <a:ext cx="5374200" cy="27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600" b="0">
                <a:latin typeface="Calibri"/>
              </a:rPr>
              <a:t>                  OUR IDEA</a:t>
            </a:r>
          </a:p>
          <a:p>
            <a:r>
              <a:rPr sz="1450" b="1">
                <a:latin typeface="Times New Roman"/>
              </a:rPr>
              <a:t>PathFinder RPL is a multi-modal AI skill assessment &amp; certification engine empowering informal experiential workers under NSQF.</a:t>
            </a:r>
          </a:p>
          <a:p>
            <a:r>
              <a:rPr sz="1500" b="1">
                <a:latin typeface="Times New Roman"/>
              </a:rPr>
              <a:t>Vernacular Oral Viva (30%) + Virtual Tool Telemetry (70%) + Edge AI CV PPE Audit + 12-Hr ZPD Micro-Bridge + W3C Cryptographic QR</a:t>
            </a:r>
          </a:p>
        </p:txBody>
      </p:sp>
      <p:cxnSp>
        <p:nvCxnSpPr>
          <p:cNvPr id="105" name="Google Shape;105;p2"/>
          <p:cNvCxnSpPr/>
          <p:nvPr/>
        </p:nvCxnSpPr>
        <p:spPr>
          <a:xfrm>
            <a:off x="0" y="3079611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06" name="Google Shape;106;p2"/>
          <p:cNvCxnSpPr/>
          <p:nvPr/>
        </p:nvCxnSpPr>
        <p:spPr>
          <a:xfrm>
            <a:off x="6561675" y="999525"/>
            <a:ext cx="21900" cy="2068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7" name="Google Shape;107;p2"/>
          <p:cNvSpPr txBox="1"/>
          <p:nvPr/>
        </p:nvSpPr>
        <p:spPr>
          <a:xfrm>
            <a:off x="27788" y="3081900"/>
            <a:ext cx="6561300" cy="33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3000" b="1">
                <a:latin typeface="Calibri"/>
              </a:rPr>
              <a:t>PROPOSED SOLUTION:</a:t>
            </a:r>
          </a:p>
          <a:p>
            <a:r>
              <a:rPr sz="1650" b="0">
                <a:latin typeface="Times New Roman"/>
              </a:rPr>
              <a:t>• 70% Practical Simulation: Digital micrometer (0.01mm), true-RMS multimeter &amp; weld penetration</a:t>
            </a:r>
          </a:p>
          <a:p>
            <a:r>
              <a:rPr sz="1650" b="0">
                <a:latin typeface="Times New Roman"/>
              </a:rPr>
              <a:t>• Edge AI Computer Vision: 30 FPS workshop camera auditing mandatory PPE &amp; safety compliance</a:t>
            </a:r>
          </a:p>
          <a:p>
            <a:r>
              <a:rPr sz="1650" b="0">
                <a:latin typeface="Times New Roman"/>
              </a:rPr>
              <a:t>• 30% Vernacular Oral Viva in colloquial Hindi &amp; Marathi via Indic ASR speech recognition</a:t>
            </a:r>
          </a:p>
          <a:p>
            <a:r>
              <a:rPr sz="1650" b="0">
                <a:latin typeface="Times New Roman"/>
              </a:rPr>
              <a:t>• Anti-proxy audio diarization &amp; voiceprint liveness telemetry to eliminate exam fraud</a:t>
            </a:r>
          </a:p>
          <a:p>
            <a:r>
              <a:rPr sz="1650" b="0">
                <a:latin typeface="Times New Roman"/>
              </a:rPr>
              <a:t>• Zone of Proximal Development (ZPD): 12-hour tailored micro-bridge with in-page 2-min retest</a:t>
            </a:r>
          </a:p>
          <a:p>
            <a:r>
              <a:rPr sz="1650" b="0">
                <a:latin typeface="Times New Roman"/>
              </a:rPr>
              <a:t>• 5 National QPs: Automotive Technician, CNC Turning, Solar PV, Electrician &amp; Welder MMAW</a:t>
            </a:r>
          </a:p>
          <a:p>
            <a:r>
              <a:rPr sz="1650" b="0">
                <a:latin typeface="Times New Roman"/>
              </a:rPr>
              <a:t>• W3C Verifiable Credentials with Ed25519 digital signatures &amp; instant mobile QR verification</a:t>
            </a:r>
          </a:p>
          <a:p>
            <a:r>
              <a:rPr sz="1650" b="0">
                <a:latin typeface="Times New Roman"/>
              </a:rPr>
              <a:t>• Statutory linkage to Minimum Wages Act 1948 (+₹1.26L/yr uplift) &amp; NAPS employer hiring</a:t>
            </a:r>
          </a:p>
        </p:txBody>
      </p:sp>
      <p:sp>
        <p:nvSpPr>
          <p:cNvPr descr="Your startup LOGO" id="108" name="Google Shape;108;p2"/>
          <p:cNvSpPr/>
          <p:nvPr/>
        </p:nvSpPr>
        <p:spPr>
          <a:xfrm>
            <a:off x="0" y="136875"/>
            <a:ext cx="16818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en-I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3013" y="60440"/>
            <a:ext cx="1681800" cy="856695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  <p:pic>
        <p:nvPicPr>
          <p:cNvPr id="110" name="Google Shape;110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61220" y="3249334"/>
            <a:ext cx="5374106" cy="2999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"/>
          <p:cNvSpPr txBox="1"/>
          <p:nvPr/>
        </p:nvSpPr>
        <p:spPr>
          <a:xfrm>
            <a:off x="3467675" y="3277775"/>
            <a:ext cx="87537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9" name="Google Shape;119;p3"/>
          <p:cNvSpPr txBox="1"/>
          <p:nvPr/>
        </p:nvSpPr>
        <p:spPr>
          <a:xfrm>
            <a:off x="146625" y="1095375"/>
            <a:ext cx="4309200" cy="61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800" b="1">
                <a:latin typeface="Times New Roman"/>
              </a:rPr>
              <a:t>Software Applications:</a:t>
            </a:r>
          </a:p>
          <a:p>
            <a:r>
              <a:rPr sz="1500" b="1">
                <a:latin typeface="Times New Roman"/>
              </a:rPr>
              <a:t>Next.js 16 + React 19 – Full-stack web app, PWA offline caching &amp; MSDE cockpit</a:t>
            </a:r>
          </a:p>
          <a:p>
            <a:r>
              <a:rPr sz="1500" b="1">
                <a:latin typeface="Times New Roman"/>
              </a:rPr>
              <a:t>Python &amp; Node.js – Audio signal processing &amp; edge telemetry ingestion</a:t>
            </a:r>
          </a:p>
          <a:p>
            <a:r>
              <a:rPr sz="1500" b="1">
                <a:latin typeface="Times New Roman"/>
              </a:rPr>
              <a:t>Bhashini / Indic-ASR – Vernacular Hindi &amp; Marathi speech-to-text recognition</a:t>
            </a:r>
          </a:p>
          <a:p>
            <a:r>
              <a:rPr sz="1500" b="1">
                <a:latin typeface="Times New Roman"/>
              </a:rPr>
              <a:t>YOLOv8-Workshop – Edge computer vision PPE &amp; safety compliance detection</a:t>
            </a:r>
          </a:p>
          <a:p>
            <a:r>
              <a:rPr sz="1500" b="1">
                <a:latin typeface="Times New Roman"/>
              </a:rPr>
              <a:t>Virtual Tool Simulator – Digital micrometer, true-RMS multimeter &amp; weld reticle</a:t>
            </a:r>
          </a:p>
          <a:p>
            <a:r>
              <a:rPr sz="1500" b="1">
                <a:latin typeface="Times New Roman"/>
              </a:rPr>
              <a:t>Zone of Proximal Development – Algorithmic 12-hr micro-bridge synthesizer</a:t>
            </a:r>
          </a:p>
          <a:p>
            <a:r>
              <a:rPr sz="1500" b="1">
                <a:latin typeface="Times New Roman"/>
              </a:rPr>
              <a:t>PostgreSQL + SQLite / Prisma ORM – Learner dossiers &amp; NSQF NOS standards</a:t>
            </a:r>
          </a:p>
          <a:p>
            <a:r>
              <a:rPr sz="1500" b="1">
                <a:latin typeface="Times New Roman"/>
              </a:rPr>
              <a:t>W3C Verifiable Credentials – Ed25519 cryptographic proofs &amp; JSON-LD standard</a:t>
            </a:r>
          </a:p>
          <a:p>
            <a:r>
              <a:rPr sz="1500" b="1">
                <a:latin typeface="Times New Roman"/>
              </a:rPr>
              <a:t>Zod + TypeScript – Strict end-to-end runtime validation</a:t>
            </a:r>
          </a:p>
          <a:p>
            <a:r>
              <a:rPr sz="1500" b="1">
                <a:latin typeface="Times New Roman"/>
              </a:rPr>
              <a:t>Vitest Test Suite – 210/210 automated unit and integration tests (100% green)</a:t>
            </a:r>
          </a:p>
          <a:p>
            <a:r>
              <a:rPr sz="1500" b="1">
                <a:latin typeface="Times New Roman"/>
              </a:rPr>
              <a:t>Render Cloud Platform – Live auto-scaling deployment (sih-rpl-ai.onrender.com)</a:t>
            </a:r>
          </a:p>
        </p:txBody>
      </p:sp>
      <p:sp>
        <p:nvSpPr>
          <p:cNvPr id="120" name="Google Shape;120;p3"/>
          <p:cNvSpPr txBox="1"/>
          <p:nvPr>
            <p:ph idx="12" type="sldNum"/>
          </p:nvPr>
        </p:nvSpPr>
        <p:spPr>
          <a:xfrm>
            <a:off x="8737600" y="647541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1" lang="en-IN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cxnSp>
        <p:nvCxnSpPr>
          <p:cNvPr id="121" name="Google Shape;121;p3"/>
          <p:cNvCxnSpPr/>
          <p:nvPr/>
        </p:nvCxnSpPr>
        <p:spPr>
          <a:xfrm flipH="1" rot="10800000">
            <a:off x="-14425" y="981400"/>
            <a:ext cx="12223800" cy="144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22" name="Google Shape;122;p3"/>
          <p:cNvCxnSpPr/>
          <p:nvPr/>
        </p:nvCxnSpPr>
        <p:spPr>
          <a:xfrm flipH="1">
            <a:off x="4419175" y="1012238"/>
            <a:ext cx="16500" cy="5464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23" name="Google Shape;123;p3"/>
          <p:cNvSpPr txBox="1"/>
          <p:nvPr/>
        </p:nvSpPr>
        <p:spPr>
          <a:xfrm>
            <a:off x="5469006" y="1148150"/>
            <a:ext cx="642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FLOWCHART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" name="Google Shape;124;p3"/>
          <p:cNvCxnSpPr/>
          <p:nvPr/>
        </p:nvCxnSpPr>
        <p:spPr>
          <a:xfrm>
            <a:off x="8425875" y="992600"/>
            <a:ext cx="600" cy="56439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25" name="Google Shape;125;p3"/>
          <p:cNvSpPr txBox="1"/>
          <p:nvPr/>
        </p:nvSpPr>
        <p:spPr>
          <a:xfrm flipH="1">
            <a:off x="9086118" y="1139525"/>
            <a:ext cx="2773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Layers of Approach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948124" y="2125113"/>
            <a:ext cx="3049500" cy="47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450" b="1">
                <a:latin typeface="Times New Roman"/>
              </a:rPr>
              <a:t>Experiential Candidate Onboarding &amp; Vernacular Dialect Selection</a:t>
            </a:r>
          </a:p>
          <a:p>
            <a:r>
              <a:rPr sz="1800" b="1">
                <a:latin typeface="Times New Roman"/>
              </a:rPr>
              <a:t>↓</a:t>
            </a:r>
          </a:p>
          <a:p>
            <a:r>
              <a:rPr sz="1450" b="1">
                <a:latin typeface="Times New Roman"/>
              </a:rPr>
              <a:t>Vernacular Oral Viva (30%) + Voiceprint Biometric Liveness Guard</a:t>
            </a:r>
          </a:p>
          <a:p>
            <a:r>
              <a:rPr sz="1800" b="1">
                <a:latin typeface="Times New Roman"/>
              </a:rPr>
              <a:t>↓</a:t>
            </a:r>
          </a:p>
          <a:p>
            <a:r>
              <a:rPr sz="1450" b="1">
                <a:latin typeface="Times New Roman"/>
              </a:rPr>
              <a:t>Hands-On Tool Telemetry (70%) &amp; Computer Vision PPE Safety Audit</a:t>
            </a:r>
          </a:p>
          <a:p>
            <a:r>
              <a:rPr sz="1800" b="1">
                <a:latin typeface="Times New Roman"/>
              </a:rPr>
              <a:t>↓</a:t>
            </a:r>
          </a:p>
          <a:p>
            <a:r>
              <a:rPr sz="1450" b="1">
                <a:latin typeface="Times New Roman"/>
              </a:rPr>
              <a:t>Continuous NOS Scoring vs 70% PMKVY Certification Threshold</a:t>
            </a:r>
          </a:p>
          <a:p>
            <a:r>
              <a:rPr sz="1800" b="1">
                <a:latin typeface="Times New Roman"/>
              </a:rPr>
              <a:t>↓</a:t>
            </a:r>
          </a:p>
          <a:p>
            <a:r>
              <a:rPr sz="1450" b="1">
                <a:latin typeface="Times New Roman"/>
              </a:rPr>
              <a:t>ZPD 12-Hour Micro-Bridge Remediation for Delta Scores (50%–69%)</a:t>
            </a:r>
          </a:p>
          <a:p>
            <a:r>
              <a:rPr sz="1800" b="1">
                <a:latin typeface="Times New Roman"/>
              </a:rPr>
              <a:t>↓</a:t>
            </a:r>
          </a:p>
          <a:p>
            <a:r>
              <a:rPr sz="1450" b="1">
                <a:latin typeface="Times New Roman"/>
              </a:rPr>
              <a:t>W3C Verifiable Credential Issuance (Ed25519) &amp; NAPS Industry Hiring</a:t>
            </a:r>
          </a:p>
        </p:txBody>
      </p:sp>
      <p:cxnSp>
        <p:nvCxnSpPr>
          <p:cNvPr id="127" name="Google Shape;127;p3"/>
          <p:cNvCxnSpPr/>
          <p:nvPr/>
        </p:nvCxnSpPr>
        <p:spPr>
          <a:xfrm flipH="1" rot="10800000">
            <a:off x="0" y="1645350"/>
            <a:ext cx="12209400" cy="576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descr="Your startup LOGO" id="128" name="Google Shape;128;p3"/>
          <p:cNvSpPr/>
          <p:nvPr/>
        </p:nvSpPr>
        <p:spPr>
          <a:xfrm>
            <a:off x="97825" y="92550"/>
            <a:ext cx="16818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en-I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  <p:pic>
        <p:nvPicPr>
          <p:cNvPr id="130" name="Google Shape;13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7763" y="1748663"/>
            <a:ext cx="3826025" cy="469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"/>
          <p:cNvSpPr/>
          <p:nvPr/>
        </p:nvSpPr>
        <p:spPr>
          <a:xfrm>
            <a:off x="0" y="6492875"/>
            <a:ext cx="121659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38" name="Google Shape;138;p4"/>
          <p:cNvSpPr txBox="1"/>
          <p:nvPr/>
        </p:nvSpPr>
        <p:spPr>
          <a:xfrm>
            <a:off x="188151" y="1150810"/>
            <a:ext cx="5999400" cy="27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600" b="1">
                <a:latin typeface="Times New Roman"/>
              </a:rPr>
              <a:t>Feasibility</a:t>
            </a:r>
          </a:p>
          <a:p>
            <a:r>
              <a:rPr sz="1500" b="0">
                <a:latin typeface="Times New Roman"/>
              </a:rPr>
              <a:t>• Technical readiness – Production-grade platform with 210/210 tests passing</a:t>
            </a:r>
          </a:p>
          <a:p>
            <a:r>
              <a:rPr sz="1500" b="0">
                <a:latin typeface="Times New Roman"/>
              </a:rPr>
              <a:t>• Accessibility – Vernacular voice overcoming reading &amp; writing literacy barriers</a:t>
            </a:r>
          </a:p>
          <a:p>
            <a:r>
              <a:rPr sz="1500" b="0">
                <a:latin typeface="Times New Roman"/>
              </a:rPr>
              <a:t>• Hardware independence – Browser-based precision measurement without testing rigs</a:t>
            </a:r>
          </a:p>
          <a:p>
            <a:r>
              <a:rPr sz="1500" b="0">
                <a:latin typeface="Times New Roman"/>
              </a:rPr>
              <a:t>• Regulatory alignment – 100% compliant with MSDE PMKVY 4.0 RPL guidelines</a:t>
            </a:r>
          </a:p>
          <a:p>
            <a:r>
              <a:rPr sz="1500" b="0">
                <a:latin typeface="Times New Roman"/>
              </a:rPr>
              <a:t>• Scalability – Low-latency Edge AI running smoothly on budget Android mobile devices</a:t>
            </a:r>
          </a:p>
          <a:p>
            <a:r>
              <a:rPr sz="1500" b="0">
                <a:latin typeface="Times New Roman"/>
              </a:rPr>
              <a:t>• Integration – Seamless linkage to DigiLocker, SIDH, and NAPS apprenticeship portals</a:t>
            </a:r>
          </a:p>
          <a:p>
            <a:r>
              <a:rPr sz="1500" b="0">
                <a:latin typeface="Times New Roman"/>
              </a:rPr>
              <a:t>• Privacy &amp; security – Aadhaar e-KYC masking and DPDP Act 2023 compliance</a:t>
            </a:r>
          </a:p>
        </p:txBody>
      </p:sp>
      <p:sp>
        <p:nvSpPr>
          <p:cNvPr id="139" name="Google Shape;139;p4"/>
          <p:cNvSpPr txBox="1"/>
          <p:nvPr>
            <p:ph idx="12" type="sldNum"/>
          </p:nvPr>
        </p:nvSpPr>
        <p:spPr>
          <a:xfrm>
            <a:off x="8737600" y="646218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cxnSp>
        <p:nvCxnSpPr>
          <p:cNvPr id="140" name="Google Shape;140;p4"/>
          <p:cNvCxnSpPr/>
          <p:nvPr/>
        </p:nvCxnSpPr>
        <p:spPr>
          <a:xfrm flipH="1" rot="10800000">
            <a:off x="0" y="994879"/>
            <a:ext cx="12165900" cy="417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41" name="Google Shape;141;p4"/>
          <p:cNvCxnSpPr/>
          <p:nvPr/>
        </p:nvCxnSpPr>
        <p:spPr>
          <a:xfrm>
            <a:off x="6161850" y="1011300"/>
            <a:ext cx="11700" cy="5409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42" name="Google Shape;142;p4"/>
          <p:cNvCxnSpPr/>
          <p:nvPr/>
        </p:nvCxnSpPr>
        <p:spPr>
          <a:xfrm>
            <a:off x="-6462" y="4279538"/>
            <a:ext cx="12204900" cy="4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43" name="Google Shape;143;p4"/>
          <p:cNvSpPr txBox="1"/>
          <p:nvPr/>
        </p:nvSpPr>
        <p:spPr>
          <a:xfrm>
            <a:off x="6237625" y="1085825"/>
            <a:ext cx="5920500" cy="27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600" b="1">
                <a:latin typeface="Times New Roman"/>
              </a:rPr>
              <a:t>Commercial Feasibility</a:t>
            </a:r>
          </a:p>
          <a:p>
            <a:r>
              <a:rPr sz="1500" b="0">
                <a:latin typeface="Times New Roman"/>
              </a:rPr>
              <a:t>• Reduces per-candidate RPL assessment cost from ₹1,200 to &lt;₹40</a:t>
            </a:r>
          </a:p>
          <a:p>
            <a:r>
              <a:rPr sz="1500" b="0">
                <a:latin typeface="Times New Roman"/>
              </a:rPr>
              <a:t>• Zero expensive lab testing rig procurement required for remote ITIs</a:t>
            </a:r>
          </a:p>
          <a:p>
            <a:r>
              <a:rPr sz="1500" b="0">
                <a:latin typeface="Times New Roman"/>
              </a:rPr>
              <a:t>• Eliminates paper examination logistics, human proctor travel &amp; leak risks</a:t>
            </a:r>
          </a:p>
          <a:p>
            <a:r>
              <a:rPr sz="1500" b="0">
                <a:latin typeface="Times New Roman"/>
              </a:rPr>
              <a:t>• Cloud, edge, and offline PWA deployment for remote rural industrial clusters</a:t>
            </a:r>
          </a:p>
          <a:p>
            <a:r>
              <a:rPr sz="1500" b="0">
                <a:latin typeface="Times New Roman"/>
              </a:rPr>
              <a:t>• Corporate sponsorship &amp; OEM recruiter placement telemetry (Tata, L&amp;T, Mahindra)</a:t>
            </a:r>
          </a:p>
          <a:p>
            <a:r>
              <a:rPr sz="1500" b="0">
                <a:latin typeface="Times New Roman"/>
              </a:rPr>
              <a:t>• Readily exportable across all 37 Sector Skill Councils and 3,000+ National QPs</a:t>
            </a:r>
          </a:p>
          <a:p>
            <a:r>
              <a:rPr sz="1500" b="0">
                <a:latin typeface="Times New Roman"/>
              </a:rPr>
              <a:t>• Minimum wage upgrade delivers +₹1.26 Lakh annual income surge per worker</a:t>
            </a:r>
          </a:p>
          <a:p>
            <a:r>
              <a:rPr sz="1500" b="0">
                <a:latin typeface="Times New Roman"/>
              </a:rPr>
              <a:t>• Advantage: Voice Viva + Tool Simulator + Edge CV PPE + W3C Verified</a:t>
            </a:r>
          </a:p>
        </p:txBody>
      </p:sp>
      <p:sp>
        <p:nvSpPr>
          <p:cNvPr id="144" name="Google Shape;144;p4"/>
          <p:cNvSpPr txBox="1"/>
          <p:nvPr/>
        </p:nvSpPr>
        <p:spPr>
          <a:xfrm>
            <a:off x="188152" y="4240595"/>
            <a:ext cx="5811600" cy="24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600" b="1">
                <a:latin typeface="Times New Roman"/>
              </a:rPr>
              <a:t>Challenges</a:t>
            </a:r>
          </a:p>
          <a:p>
            <a:r>
              <a:rPr sz="1500" b="0">
                <a:latin typeface="Times New Roman"/>
              </a:rPr>
              <a:t>• Rural low-bandwidth connectivity in remote clusters</a:t>
            </a:r>
          </a:p>
          <a:p>
            <a:r>
              <a:rPr sz="1500" b="0">
                <a:latin typeface="Times New Roman"/>
              </a:rPr>
              <a:t>• High ambient acoustic noise in operating workshops</a:t>
            </a:r>
          </a:p>
          <a:p>
            <a:r>
              <a:rPr sz="1500" b="0">
                <a:latin typeface="Times New Roman"/>
              </a:rPr>
              <a:t>• Regional slang and non-standard colloquial dialects</a:t>
            </a:r>
          </a:p>
          <a:p>
            <a:r>
              <a:rPr sz="1500" b="0">
                <a:latin typeface="Times New Roman"/>
              </a:rPr>
              <a:t>• Proxy candidate impersonation and examination fraud</a:t>
            </a:r>
          </a:p>
          <a:p>
            <a:r>
              <a:rPr sz="1500" b="0">
                <a:latin typeface="Times New Roman"/>
              </a:rPr>
              <a:t>• Rejection fatigue among veteran informal craftsmen</a:t>
            </a:r>
          </a:p>
          <a:p>
            <a:r>
              <a:rPr sz="1500" b="0">
                <a:latin typeface="Times New Roman"/>
              </a:rPr>
              <a:t>• Employer skepticism regarding informal skill parity</a:t>
            </a:r>
          </a:p>
          <a:p>
            <a:r>
              <a:rPr sz="1500" b="0">
                <a:latin typeface="Times New Roman"/>
              </a:rPr>
              <a:t>• Assessor resistance to automated evaluation systems</a:t>
            </a:r>
          </a:p>
        </p:txBody>
      </p:sp>
      <p:sp>
        <p:nvSpPr>
          <p:cNvPr id="145" name="Google Shape;145;p4"/>
          <p:cNvSpPr txBox="1"/>
          <p:nvPr/>
        </p:nvSpPr>
        <p:spPr>
          <a:xfrm>
            <a:off x="6335650" y="4220225"/>
            <a:ext cx="5713200" cy="25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600" b="1">
                <a:latin typeface="Times New Roman"/>
              </a:rPr>
              <a:t>Strategy</a:t>
            </a:r>
          </a:p>
          <a:p>
            <a:r>
              <a:rPr sz="1500" b="0">
                <a:latin typeface="Times New Roman"/>
              </a:rPr>
              <a:t>• Offline-first PWA caching with local WebAssembly execution</a:t>
            </a:r>
          </a:p>
          <a:p>
            <a:r>
              <a:rPr sz="1500" b="0">
                <a:latin typeface="Times New Roman"/>
              </a:rPr>
              <a:t>• Spectral noise gating (-18dB) suppressing machinery hum</a:t>
            </a:r>
          </a:p>
          <a:p>
            <a:r>
              <a:rPr sz="1500" b="0">
                <a:latin typeface="Times New Roman"/>
              </a:rPr>
              <a:t>• Bhashini acoustic dialect normalization for colloquial vocabulary</a:t>
            </a:r>
          </a:p>
          <a:p>
            <a:r>
              <a:rPr sz="1500" b="0">
                <a:latin typeface="Times New Roman"/>
              </a:rPr>
              <a:t>• Multi-voice audio diarization &amp; biometric pitch liveness detection</a:t>
            </a:r>
          </a:p>
          <a:p>
            <a:r>
              <a:rPr sz="1500" b="0">
                <a:latin typeface="Times New Roman"/>
              </a:rPr>
              <a:t>• Zero rejection: 12-hr ZPD micro-bridge with instant in-page retest</a:t>
            </a:r>
          </a:p>
          <a:p>
            <a:r>
              <a:rPr sz="1500" b="0">
                <a:latin typeface="Times New Roman"/>
              </a:rPr>
              <a:t>• Cryptographic Ed25519 QR scanning proving raw hands-on scores</a:t>
            </a:r>
          </a:p>
          <a:p>
            <a:r>
              <a:rPr sz="1500" b="0">
                <a:latin typeface="Times New Roman"/>
              </a:rPr>
              <a:t>• Assessor-copilot mode: AI assists evaluators without displacing them</a:t>
            </a:r>
          </a:p>
        </p:txBody>
      </p:sp>
      <p:sp>
        <p:nvSpPr>
          <p:cNvPr descr="Your startup LOGO" id="146" name="Google Shape;146;p4"/>
          <p:cNvSpPr/>
          <p:nvPr/>
        </p:nvSpPr>
        <p:spPr>
          <a:xfrm>
            <a:off x="97825" y="93500"/>
            <a:ext cx="17715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en-I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"/>
          <p:cNvSpPr/>
          <p:nvPr/>
        </p:nvSpPr>
        <p:spPr>
          <a:xfrm>
            <a:off x="0" y="6492875"/>
            <a:ext cx="122151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55" name="Google Shape;155;p5"/>
          <p:cNvSpPr txBox="1"/>
          <p:nvPr/>
        </p:nvSpPr>
        <p:spPr>
          <a:xfrm>
            <a:off x="211674" y="1094850"/>
            <a:ext cx="5792100" cy="30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400" b="1">
                <a:latin typeface="Times New Roman"/>
              </a:rPr>
              <a:t>Direct Impact on Target Users:</a:t>
            </a:r>
          </a:p>
          <a:p>
            <a:r>
              <a:rPr sz="1450" b="0">
                <a:latin typeface="Times New Roman"/>
              </a:rPr>
              <a:t>• Informal Craftsmen – Dignified NSQF certification overcoming literacy barriers</a:t>
            </a:r>
          </a:p>
          <a:p>
            <a:r>
              <a:rPr sz="1450" b="0">
                <a:latin typeface="Times New Roman"/>
              </a:rPr>
              <a:t>• Rural Helpers – Fast-track career ladder from informal helper to certified technician</a:t>
            </a:r>
          </a:p>
          <a:p>
            <a:r>
              <a:rPr sz="1450" b="0">
                <a:latin typeface="Times New Roman"/>
              </a:rPr>
              <a:t>• Workshop MSMEs – Standardized skill verification without trial-and-error hiring</a:t>
            </a:r>
          </a:p>
          <a:p>
            <a:r>
              <a:rPr sz="1450" b="0">
                <a:latin typeface="Times New Roman"/>
              </a:rPr>
              <a:t>• Manufacturing OEMs – Pre-verified talent matching for NAPS apprenticeship schemes</a:t>
            </a:r>
          </a:p>
          <a:p>
            <a:r>
              <a:rPr sz="1450" b="0">
                <a:latin typeface="Times New Roman"/>
              </a:rPr>
              <a:t>• Training Centers &amp; ITIs – 10x throughput capacity without lab testing bottlenecks</a:t>
            </a:r>
          </a:p>
          <a:p>
            <a:r>
              <a:rPr sz="1450" b="0">
                <a:latin typeface="Times New Roman"/>
              </a:rPr>
              <a:t>• Ministry Evaluators – Real-time district-wise RPL telemetry with anti-fraud auditing</a:t>
            </a:r>
          </a:p>
        </p:txBody>
      </p:sp>
      <p:sp>
        <p:nvSpPr>
          <p:cNvPr id="156" name="Google Shape;156;p5"/>
          <p:cNvSpPr txBox="1"/>
          <p:nvPr>
            <p:ph idx="12" type="sldNum"/>
          </p:nvPr>
        </p:nvSpPr>
        <p:spPr>
          <a:xfrm>
            <a:off x="8737600" y="646218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7" name="Google Shape;157;p5"/>
          <p:cNvSpPr/>
          <p:nvPr/>
        </p:nvSpPr>
        <p:spPr>
          <a:xfrm>
            <a:off x="97825" y="93500"/>
            <a:ext cx="17715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en-I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8" name="Google Shape;158;p5"/>
          <p:cNvCxnSpPr/>
          <p:nvPr/>
        </p:nvCxnSpPr>
        <p:spPr>
          <a:xfrm flipH="1" rot="10800000">
            <a:off x="0" y="991180"/>
            <a:ext cx="12215100" cy="684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59" name="Google Shape;159;p5"/>
          <p:cNvCxnSpPr/>
          <p:nvPr/>
        </p:nvCxnSpPr>
        <p:spPr>
          <a:xfrm>
            <a:off x="6003892" y="1016850"/>
            <a:ext cx="16800" cy="5486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60" name="Google Shape;160;p5"/>
          <p:cNvCxnSpPr/>
          <p:nvPr/>
        </p:nvCxnSpPr>
        <p:spPr>
          <a:xfrm>
            <a:off x="35100" y="3918196"/>
            <a:ext cx="5985600" cy="14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61" name="Google Shape;161;p5"/>
          <p:cNvSpPr txBox="1"/>
          <p:nvPr/>
        </p:nvSpPr>
        <p:spPr>
          <a:xfrm>
            <a:off x="211670" y="4061913"/>
            <a:ext cx="5904900" cy="239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400" b="1">
                <a:latin typeface="Times New Roman"/>
              </a:rPr>
              <a:t>Strategic Impact</a:t>
            </a:r>
          </a:p>
          <a:p>
            <a:r>
              <a:rPr sz="1450" b="0">
                <a:latin typeface="Times New Roman"/>
              </a:rPr>
              <a:t>• Accelerates national RPL certification towards PMKVY 4.0 targets</a:t>
            </a:r>
          </a:p>
          <a:p>
            <a:r>
              <a:rPr sz="1450" b="0">
                <a:latin typeface="Times New Roman"/>
              </a:rPr>
              <a:t>• Integrates 400M+ unorganized workers into the formal banking &amp; social safety net</a:t>
            </a:r>
          </a:p>
          <a:p>
            <a:r>
              <a:rPr sz="1450" b="0">
                <a:latin typeface="Times New Roman"/>
              </a:rPr>
              <a:t>• Eliminates fake certificates through tamper-proof W3C cryptographic signatures</a:t>
            </a:r>
          </a:p>
          <a:p>
            <a:r>
              <a:rPr sz="1450" b="0">
                <a:latin typeface="Times New Roman"/>
              </a:rPr>
              <a:t>• Drives inclusion across socio-economic and regional demographic groups</a:t>
            </a:r>
          </a:p>
          <a:p>
            <a:r>
              <a:rPr sz="1450" b="0">
                <a:latin typeface="Times New Roman"/>
              </a:rPr>
              <a:t>• Anchors experiential learning to Academic Bank of Credits (ABC / APAAR)</a:t>
            </a:r>
          </a:p>
          <a:p>
            <a:r>
              <a:rPr sz="1450" b="0">
                <a:latin typeface="Times New Roman"/>
              </a:rPr>
              <a:t>• Creates an unforgeable National Skill Registry under Skill India Digital Hub (SIDH)</a:t>
            </a:r>
          </a:p>
          <a:p>
            <a:r>
              <a:rPr sz="1450" b="0">
                <a:latin typeface="Times New Roman"/>
              </a:rPr>
              <a:t>• Establishes India as a global pioneer in AI-assisted vocational RPL assessment</a:t>
            </a:r>
          </a:p>
        </p:txBody>
      </p:sp>
      <p:sp>
        <p:nvSpPr>
          <p:cNvPr id="162" name="Google Shape;162;p5"/>
          <p:cNvSpPr txBox="1"/>
          <p:nvPr/>
        </p:nvSpPr>
        <p:spPr>
          <a:xfrm>
            <a:off x="6221490" y="1001050"/>
            <a:ext cx="63603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400" b="1">
                <a:latin typeface="Times New Roman"/>
              </a:rPr>
              <a:t>Economic &amp; Strategic Benefits</a:t>
            </a:r>
          </a:p>
          <a:p>
            <a:r>
              <a:rPr sz="1450" b="0">
                <a:latin typeface="Times New Roman"/>
              </a:rPr>
              <a:t>• Direct statutory wage upgrade: informal ₹450/day → legal ₹865/day (+95% surge)</a:t>
            </a:r>
          </a:p>
          <a:p>
            <a:r>
              <a:rPr sz="1450" b="0">
                <a:latin typeface="Times New Roman"/>
              </a:rPr>
              <a:t>• Unlocks mandatory statutory protections: ESIC health cover &amp; EPFO pension</a:t>
            </a:r>
          </a:p>
          <a:p>
            <a:r>
              <a:rPr sz="1450" b="0">
                <a:latin typeface="Times New Roman"/>
              </a:rPr>
              <a:t>• 84.3% placement rate into paid industrial apprenticeships within 14 calendar days</a:t>
            </a:r>
          </a:p>
          <a:p>
            <a:r>
              <a:rPr sz="1450" b="0">
                <a:latin typeface="Times New Roman"/>
              </a:rPr>
              <a:t>• ₹1,160 saved per assessment compared to legacy manual paper-based RPL</a:t>
            </a:r>
          </a:p>
          <a:p>
            <a:r>
              <a:rPr sz="1450" b="0">
                <a:latin typeface="Times New Roman"/>
              </a:rPr>
              <a:t>• Zero recurring proprietary software licensing costs (open-source core)</a:t>
            </a:r>
          </a:p>
          <a:p>
            <a:r>
              <a:rPr sz="1450" b="0">
                <a:latin typeface="Times New Roman"/>
              </a:rPr>
              <a:t>• Live integration with DigiLocker, SIDH, and National Career Service (NCS)</a:t>
            </a:r>
          </a:p>
          <a:p>
            <a:r>
              <a:rPr sz="1450" b="0">
                <a:latin typeface="Times New Roman"/>
              </a:rPr>
              <a:t>• Closed-loop feedback cycle continuously updating qualification pack standards</a:t>
            </a:r>
          </a:p>
        </p:txBody>
      </p:sp>
      <p:pic>
        <p:nvPicPr>
          <p:cNvPr id="163" name="Google Shape;16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  <p:pic>
        <p:nvPicPr>
          <p:cNvPr id="164" name="Google Shape;164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35899" y="3472540"/>
            <a:ext cx="5429483" cy="30304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72" name="Google Shape;172;p6"/>
          <p:cNvSpPr txBox="1"/>
          <p:nvPr>
            <p:ph idx="12" type="sldNum"/>
          </p:nvPr>
        </p:nvSpPr>
        <p:spPr>
          <a:xfrm>
            <a:off x="10001250" y="6493350"/>
            <a:ext cx="1581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cxnSp>
        <p:nvCxnSpPr>
          <p:cNvPr id="173" name="Google Shape;173;p6"/>
          <p:cNvCxnSpPr/>
          <p:nvPr/>
        </p:nvCxnSpPr>
        <p:spPr>
          <a:xfrm>
            <a:off x="0" y="1010438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4" name="Google Shape;174;p6"/>
          <p:cNvSpPr txBox="1"/>
          <p:nvPr/>
        </p:nvSpPr>
        <p:spPr>
          <a:xfrm>
            <a:off x="7000" y="941575"/>
            <a:ext cx="6195900" cy="28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200" b="1">
                <a:latin typeface="Times New Roman"/>
              </a:rPr>
              <a:t>Gap &amp; Problem Identification</a:t>
            </a:r>
          </a:p>
          <a:p>
            <a:r>
              <a:rPr sz="1400" b="0">
                <a:latin typeface="Times New Roman"/>
              </a:rPr>
              <a:t>• 90%+ of India's workforce lacks formal skill credentials (NSSO 68th Round)</a:t>
            </a:r>
          </a:p>
          <a:p>
            <a:r>
              <a:rPr sz="1400" b="0">
                <a:latin typeface="Times New Roman"/>
              </a:rPr>
              <a:t>• High dropout rates in legacy RPL due to reading/writing written test anxiety</a:t>
            </a:r>
          </a:p>
          <a:p>
            <a:r>
              <a:rPr sz="1400" b="0">
                <a:latin typeface="Times New Roman"/>
              </a:rPr>
              <a:t>• Physical testing labs concentrated in Tier-1 cities, excluding rural craftsmen</a:t>
            </a:r>
          </a:p>
          <a:p>
            <a:r>
              <a:rPr sz="1400" b="0">
                <a:latin typeface="Times New Roman"/>
              </a:rPr>
              <a:t>• Subjective human assessor grading introduces regional bias &amp; corruption</a:t>
            </a:r>
          </a:p>
          <a:p>
            <a:r>
              <a:rPr sz="1400" b="0">
                <a:latin typeface="Times New Roman"/>
              </a:rPr>
              <a:t>• Binary pass/fail models discard candidates with minor addressable gaps</a:t>
            </a:r>
          </a:p>
          <a:p>
            <a:r>
              <a:rPr sz="1400" b="0">
                <a:latin typeface="Times New Roman"/>
              </a:rPr>
              <a:t>• Paper certificates easily forged, diluting employer hiring confidence</a:t>
            </a:r>
          </a:p>
          <a:p>
            <a:r>
              <a:rPr sz="1400" b="0">
                <a:latin typeface="Times New Roman"/>
              </a:rPr>
              <a:t>• Minimal post-assessment tracking of actual wage or employment outcomes</a:t>
            </a:r>
          </a:p>
        </p:txBody>
      </p:sp>
      <p:cxnSp>
        <p:nvCxnSpPr>
          <p:cNvPr id="175" name="Google Shape;175;p6"/>
          <p:cNvCxnSpPr/>
          <p:nvPr/>
        </p:nvCxnSpPr>
        <p:spPr>
          <a:xfrm>
            <a:off x="5985475" y="1046575"/>
            <a:ext cx="16500" cy="5421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76" name="Google Shape;176;p6"/>
          <p:cNvCxnSpPr/>
          <p:nvPr/>
        </p:nvCxnSpPr>
        <p:spPr>
          <a:xfrm flipH="1" rot="10800000">
            <a:off x="0" y="3682250"/>
            <a:ext cx="12260100" cy="855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7" name="Google Shape;177;p6"/>
          <p:cNvSpPr txBox="1"/>
          <p:nvPr/>
        </p:nvSpPr>
        <p:spPr>
          <a:xfrm>
            <a:off x="6195764" y="988632"/>
            <a:ext cx="6532800" cy="273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200" b="1">
                <a:latin typeface="Times New Roman"/>
              </a:rPr>
              <a:t>Economic &amp; Strategic Landscape</a:t>
            </a:r>
          </a:p>
          <a:p>
            <a:r>
              <a:rPr sz="1400" b="0">
                <a:latin typeface="Times New Roman"/>
              </a:rPr>
              <a:t>PMKVY 4.0 guidelines mandate recognition of experiential prior learning</a:t>
            </a:r>
          </a:p>
          <a:p>
            <a:r>
              <a:rPr sz="1400" b="0">
                <a:latin typeface="Times New Roman"/>
              </a:rPr>
              <a:t>Minimum Wages Act 1948 mandates higher base pay for certified trades</a:t>
            </a:r>
          </a:p>
          <a:p>
            <a:r>
              <a:rPr sz="1400" b="0">
                <a:latin typeface="Times New Roman"/>
              </a:rPr>
              <a:t>National Apprenticeship Promotion Scheme (NAPS) demands verified talent</a:t>
            </a:r>
          </a:p>
          <a:p>
            <a:r>
              <a:rPr sz="1400" b="0">
                <a:latin typeface="Times New Roman"/>
              </a:rPr>
              <a:t>Skill India Digital Hub (SIDH) establishes unified digital architecture</a:t>
            </a:r>
          </a:p>
          <a:p>
            <a:r>
              <a:rPr sz="1400" b="0">
                <a:latin typeface="Times New Roman"/>
              </a:rPr>
              <a:t>High return on investment: every ₹1 spent on RPL yields ₹8.4 in worker earnings</a:t>
            </a:r>
          </a:p>
          <a:p>
            <a:r>
              <a:rPr sz="1400" b="0">
                <a:latin typeface="Times New Roman"/>
              </a:rPr>
              <a:t>MSME manufacturing clusters face chronic shortage of certified technicians</a:t>
            </a:r>
          </a:p>
          <a:p>
            <a:r>
              <a:rPr sz="1400" b="0">
                <a:latin typeface="Times New Roman"/>
              </a:rPr>
              <a:t>Global mobility: NSQF alignment facilitates Gulf &amp; European overseas migration</a:t>
            </a:r>
          </a:p>
          <a:p>
            <a:r>
              <a:rPr sz="1400" b="0">
                <a:latin typeface="Times New Roman"/>
              </a:rPr>
              <a:t>Scalable across informal automotive, machining, green solar &amp; electrical trades</a:t>
            </a:r>
          </a:p>
        </p:txBody>
      </p:sp>
      <p:sp>
        <p:nvSpPr>
          <p:cNvPr id="178" name="Google Shape;178;p6"/>
          <p:cNvSpPr txBox="1"/>
          <p:nvPr/>
        </p:nvSpPr>
        <p:spPr>
          <a:xfrm>
            <a:off x="219550" y="3914541"/>
            <a:ext cx="5770800" cy="27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200" b="1">
                <a:latin typeface="Times New Roman"/>
              </a:rPr>
              <a:t>Technology Benchmarking</a:t>
            </a:r>
          </a:p>
          <a:p>
            <a:r>
              <a:rPr sz="1450" b="0">
                <a:latin typeface="Times New Roman"/>
              </a:rPr>
              <a:t>• Legacy RPL Exams → Paper MCQs &amp; subjective human interviewers</a:t>
            </a:r>
          </a:p>
          <a:p>
            <a:r>
              <a:rPr sz="1450" b="0">
                <a:latin typeface="Times New Roman"/>
              </a:rPr>
              <a:t>• Generic LMS / Online Tests → Text-heavy screens with no hands-on tooling</a:t>
            </a:r>
          </a:p>
          <a:p>
            <a:r>
              <a:rPr sz="1450" b="0">
                <a:latin typeface="Times New Roman"/>
              </a:rPr>
              <a:t>• Foreign Simulation Software → Expensive per-seat licenses &amp; english-only</a:t>
            </a:r>
          </a:p>
          <a:p>
            <a:r>
              <a:rPr sz="1450" b="0">
                <a:latin typeface="Times New Roman"/>
              </a:rPr>
              <a:t>• PathFinder RPL → 70% Tool Sim + Vernacular Viva + ZPD Bridge + W3C VC</a:t>
            </a:r>
          </a:p>
        </p:txBody>
      </p:sp>
      <p:sp>
        <p:nvSpPr>
          <p:cNvPr id="179" name="Google Shape;179;p6"/>
          <p:cNvSpPr txBox="1"/>
          <p:nvPr/>
        </p:nvSpPr>
        <p:spPr>
          <a:xfrm>
            <a:off x="6195780" y="3842590"/>
            <a:ext cx="5651400" cy="26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2200" b="1">
                <a:latin typeface="Times New Roman"/>
              </a:rPr>
              <a:t>Policy &amp; Ecosystem Analysis</a:t>
            </a:r>
          </a:p>
          <a:p>
            <a:r>
              <a:rPr sz="1400" b="0">
                <a:latin typeface="Times New Roman"/>
              </a:rPr>
              <a:t>NSQF Level 3 &amp; 4 Descriptors and National Occupational Standards (NOS)</a:t>
            </a:r>
          </a:p>
          <a:p>
            <a:r>
              <a:rPr sz="1400" b="0">
                <a:latin typeface="Times New Roman"/>
              </a:rPr>
              <a:t>PMKVY 4.0 Orientation &amp; Continuous Assessment Guidelines</a:t>
            </a:r>
          </a:p>
          <a:p>
            <a:r>
              <a:rPr sz="1400" b="0">
                <a:latin typeface="Times New Roman"/>
              </a:rPr>
              <a:t>W3C Verifiable Credentials Standard (Ed25519 / JSON-LD)</a:t>
            </a:r>
          </a:p>
          <a:p>
            <a:r>
              <a:rPr sz="1400" b="0">
                <a:latin typeface="Times New Roman"/>
              </a:rPr>
              <a:t>DigiLocker &amp; Skill India Digital Hub (SIDH) API Integration</a:t>
            </a:r>
          </a:p>
          <a:p>
            <a:r>
              <a:rPr sz="1400" b="0">
                <a:latin typeface="Times New Roman"/>
              </a:rPr>
              <a:t>Digital Personal Data Protection (DPDP) Act 2023 compliance</a:t>
            </a:r>
          </a:p>
          <a:p>
            <a:r>
              <a:rPr sz="1400" b="0">
                <a:latin typeface="Times New Roman"/>
              </a:rPr>
              <a:t>Minimum Wages Act 1948 &amp; Scheduled Employment Wage Framework</a:t>
            </a:r>
          </a:p>
          <a:p>
            <a:r>
              <a:rPr sz="1400" b="0">
                <a:latin typeface="Times New Roman"/>
              </a:rPr>
              <a:t>National Apprenticeship Training Scheme (NATS / NAPS) Employer Linkage</a:t>
            </a:r>
          </a:p>
        </p:txBody>
      </p:sp>
      <p:sp>
        <p:nvSpPr>
          <p:cNvPr descr="Your startup LOGO" id="180" name="Google Shape;180;p6"/>
          <p:cNvSpPr/>
          <p:nvPr/>
        </p:nvSpPr>
        <p:spPr>
          <a:xfrm>
            <a:off x="97825" y="93500"/>
            <a:ext cx="16818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en-I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  <p:sp>
        <p:nvSpPr>
          <p:cNvPr id="182" name="Google Shape;182;p6"/>
          <p:cNvSpPr/>
          <p:nvPr/>
        </p:nvSpPr>
        <p:spPr>
          <a:xfrm>
            <a:off x="2577640" y="6550509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IN" sz="1400" u="sng" cap="none" strike="noStrike">
                <a:solidFill>
                  <a:schemeClr val="hlink"/>
                </a:solidFill>
                <a:latin typeface="Oswald"/>
                <a:ea typeface="Oswald"/>
                <a:cs typeface="Oswald"/>
                <a:sym typeface="Oswald"/>
                <a:hlinkClick r:id="rId4"/>
              </a:rPr>
              <a:t>SOURCE CODE</a:t>
            </a:r>
            <a:endParaRPr b="0" i="0" sz="1400" u="none" cap="none" strike="noStrike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5091171" y="6526537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IN" sz="1400" u="sng" cap="none" strike="noStrike">
                <a:solidFill>
                  <a:schemeClr val="hlink"/>
                </a:solidFill>
                <a:latin typeface="Oswald"/>
                <a:ea typeface="Oswald"/>
                <a:cs typeface="Oswald"/>
                <a:sym typeface="Oswald"/>
                <a:hlinkClick r:id="rId5"/>
              </a:rPr>
              <a:t>LIVE DEMO</a:t>
            </a:r>
            <a:endParaRPr b="0" i="0" sz="1400" u="none" cap="none" strike="noStrike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7518440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IN" u="sng">
                <a:solidFill>
                  <a:schemeClr val="hlink"/>
                </a:solidFill>
                <a:latin typeface="Oswald"/>
                <a:ea typeface="Oswald"/>
                <a:cs typeface="Oswald"/>
                <a:sym typeface="Oswald"/>
                <a:hlinkClick r:id="rId6"/>
              </a:rPr>
              <a:t>VIDEO</a:t>
            </a:r>
            <a:endParaRPr b="0" i="0" sz="1400" u="none" cap="none" strike="noStrike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</cp:coreProperties>
</file>