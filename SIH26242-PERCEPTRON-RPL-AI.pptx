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Garamond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hX9Ntchx2csyEx+FFDT5rLNIsm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Garamond-regular.fntdata"/><Relationship Id="rId13" Type="http://schemas.openxmlformats.org/officeDocument/2006/relationships/font" Target="fonts/Garamond-bold.fntdata"/><Relationship Id="rId14" Type="http://schemas.openxmlformats.org/officeDocument/2006/relationships/font" Target="fonts/Garamond-italic.fntdata"/><Relationship Id="rId15" Type="http://schemas.openxmlformats.org/officeDocument/2006/relationships/font" Target="fonts/Garamond-boldItalic.fntdata"/><Relationship Id="rId16" Type="http://schemas.openxmlformats.org/officeDocument/2006/relationships/font" Target="fonts/Oswald-regular.fntdata"/><Relationship Id="rId17" Type="http://schemas.openxmlformats.org/officeDocument/2006/relationships/font" Target="fonts/Oswald-bold.fntdata"/><Relationship Id="rId1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I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I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I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5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github.com/SabarishR08/SIH26242-AI-Skill-Assessment-RPL" TargetMode="External"/><Relationship Id="rId5" Type="http://schemas.openxmlformats.org/officeDocument/2006/relationships/hyperlink" Target="https://sih-rpl-ai.onrender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715" y="1010843"/>
            <a:ext cx="10029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sz="3150" b="1">
                <a:latin typeface="Times New Roman"/>
              </a:rPr>
              <a:t>AI-Assisted Skill Assessment Tool for Recognition of Prior Learning (RPL)</a:t>
            </a:r>
          </a:p>
        </p:txBody>
      </p:sp>
      <p:sp>
        <p:nvSpPr>
          <p:cNvPr id="91" name="Google Shape;91;p1"/>
          <p:cNvSpPr txBox="1"/>
          <p:nvPr>
            <p:ph type="ctrTitle"/>
          </p:nvPr>
        </p:nvSpPr>
        <p:spPr>
          <a:xfrm>
            <a:off x="331286" y="-459680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rPr sz="4000" b="1">
                <a:latin typeface="Garamond"/>
              </a:rPr>
              <a:t>SMART INDIA HACKATHON 2026</a:t>
            </a:r>
          </a:p>
        </p:txBody>
      </p:sp>
      <p:sp>
        <p:nvSpPr>
          <p:cNvPr id="92" name="Google Shape;92;p1"/>
          <p:cNvSpPr txBox="1"/>
          <p:nvPr/>
        </p:nvSpPr>
        <p:spPr>
          <a:xfrm>
            <a:off x="976077" y="2476501"/>
            <a:ext cx="125109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>
              <a:spcAft>
                <a:spcPts val="200"/>
              </a:spcAft>
            </a:pPr>
            <a:r>
              <a:rPr sz="2300" b="1">
                <a:latin typeface="Arial"/>
              </a:rPr>
              <a:t>Problem Statement ID – SIH26242</a:t>
            </a:r>
          </a:p>
          <a:p>
            <a:pPr>
              <a:spcAft>
                <a:spcPts val="200"/>
              </a:spcAft>
            </a:pPr>
            <a:r>
              <a:rPr sz="2300" b="1">
                <a:latin typeface="Arial"/>
              </a:rPr>
              <a:t>Theme - Smart Education</a:t>
            </a:r>
          </a:p>
          <a:p>
            <a:pPr>
              <a:spcAft>
                <a:spcPts val="200"/>
              </a:spcAft>
            </a:pPr>
            <a:r>
              <a:rPr sz="2300" b="1">
                <a:latin typeface="Arial"/>
              </a:rPr>
              <a:t>PS Category- Software</a:t>
            </a:r>
          </a:p>
          <a:p>
            <a:pPr>
              <a:spcAft>
                <a:spcPts val="200"/>
              </a:spcAft>
            </a:pPr>
            <a:r>
              <a:rPr sz="2300" b="1">
                <a:latin typeface="Arial"/>
              </a:rPr>
              <a:t>Team ID- 167778</a:t>
            </a:r>
          </a:p>
          <a:p>
            <a:pPr>
              <a:spcAft>
                <a:spcPts val="200"/>
              </a:spcAft>
            </a:pPr>
            <a:r>
              <a:rPr sz="2300" b="1">
                <a:latin typeface="Arial"/>
              </a:rPr>
              <a:t>Team Name - PERCEPTRON</a:t>
            </a: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29869" y="73856"/>
            <a:ext cx="1771528" cy="9024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6492875"/>
            <a:ext cx="12192000" cy="365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>
            <p:ph type="ctrTitle"/>
          </p:nvPr>
        </p:nvSpPr>
        <p:spPr>
          <a:xfrm>
            <a:off x="1486986" y="136876"/>
            <a:ext cx="89997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rPr sz="1350" b="1">
                <a:latin typeface="Arial"/>
              </a:rPr>
              <a:t>AI-Assisted Recognition of Prior Learning (RPL): Vernacular Voice Viva, Hands-on Tool Telemetry, 12-Hour Micro-Bridge Courses &amp; W3C Verifiable Credentials</a:t>
            </a:r>
          </a:p>
        </p:txBody>
      </p:sp>
      <p:sp>
        <p:nvSpPr>
          <p:cNvPr id="101" name="Google Shape;101;p2"/>
          <p:cNvSpPr txBox="1"/>
          <p:nvPr>
            <p:ph idx="12" type="sldNum"/>
          </p:nvPr>
        </p:nvSpPr>
        <p:spPr>
          <a:xfrm>
            <a:off x="8737600" y="648732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IN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2" name="Google Shape;102;p2"/>
          <p:cNvSpPr txBox="1"/>
          <p:nvPr>
            <p:ph idx="1" type="subTitle"/>
          </p:nvPr>
        </p:nvSpPr>
        <p:spPr>
          <a:xfrm>
            <a:off x="98050" y="1060550"/>
            <a:ext cx="6401400" cy="1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>
              <a:spcAft>
                <a:spcPts val="400"/>
              </a:spcAft>
            </a:pPr>
            <a:r>
              <a:rPr sz="2600" b="1">
                <a:latin typeface="Times New Roman"/>
              </a:rPr>
              <a:t>PROBLEM</a:t>
            </a:r>
          </a:p>
          <a:p>
            <a:r>
              <a:rPr sz="1350" b="1">
                <a:latin typeface="Times New Roman"/>
              </a:rPr>
              <a:t>India's 400M+ unorganized craftsmen face structural RPL bottlenecks: literacy barriers in written MCQ exams, subjective assessor bias, zero access to physical testing rigs in rural areas, rigid pass/fail rejection without remediation, and paper certificate forgery.</a:t>
            </a:r>
          </a:p>
        </p:txBody>
      </p:sp>
      <p:cxnSp>
        <p:nvCxnSpPr>
          <p:cNvPr id="103" name="Google Shape;103;p2"/>
          <p:cNvCxnSpPr/>
          <p:nvPr/>
        </p:nvCxnSpPr>
        <p:spPr>
          <a:xfrm>
            <a:off x="-1" y="1000784"/>
            <a:ext cx="121920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4" name="Google Shape;104;p2"/>
          <p:cNvSpPr txBox="1"/>
          <p:nvPr/>
        </p:nvSpPr>
        <p:spPr>
          <a:xfrm>
            <a:off x="6686325" y="1088575"/>
            <a:ext cx="5374200" cy="27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latin typeface="Calibri"/>
              </a:rPr>
              <a:t>OUR IDEA</a:t>
            </a:r>
          </a:p>
          <a:p>
            <a:pPr>
              <a:spcAft>
                <a:spcPts val="300"/>
              </a:spcAft>
            </a:pPr>
            <a:r>
              <a:rPr sz="1300" b="1">
                <a:latin typeface="Times New Roman"/>
              </a:rPr>
              <a:t>PathFinder RPL is a multi-modal AI skill assessment &amp; certification engine empowering informal experiential workers under NSQF.</a:t>
            </a:r>
          </a:p>
          <a:p>
            <a:r>
              <a:rPr sz="1300" b="1">
                <a:latin typeface="Times New Roman"/>
              </a:rPr>
              <a:t>Vernacular Oral Viva (30%) + Virtual Tool Telemetry (70%) + Edge AI CV PPE Audit + 12-Hr ZPD Micro-Bridge + W3C Cryptographic QR</a:t>
            </a:r>
          </a:p>
        </p:txBody>
      </p:sp>
      <p:cxnSp>
        <p:nvCxnSpPr>
          <p:cNvPr id="105" name="Google Shape;105;p2"/>
          <p:cNvCxnSpPr/>
          <p:nvPr/>
        </p:nvCxnSpPr>
        <p:spPr>
          <a:xfrm>
            <a:off x="0" y="3079611"/>
            <a:ext cx="121920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06" name="Google Shape;106;p2"/>
          <p:cNvCxnSpPr/>
          <p:nvPr/>
        </p:nvCxnSpPr>
        <p:spPr>
          <a:xfrm>
            <a:off x="6561675" y="999525"/>
            <a:ext cx="21900" cy="20682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7" name="Google Shape;107;p2"/>
          <p:cNvSpPr txBox="1"/>
          <p:nvPr/>
        </p:nvSpPr>
        <p:spPr>
          <a:xfrm>
            <a:off x="27788" y="3081900"/>
            <a:ext cx="6561300" cy="3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latin typeface="Calibri"/>
              </a:rPr>
              <a:t>PROPOSED SOLUTION: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70% Practical Simulation: </a:t>
            </a:r>
            <a:r>
              <a:rPr sz="1200" b="0">
                <a:latin typeface="Times New Roman"/>
              </a:rPr>
              <a:t>Digital micrometer (0.01mm), true-RMS multimeter &amp; weld penetration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Edge AI Computer Vision: </a:t>
            </a:r>
            <a:r>
              <a:rPr sz="1200" b="0">
                <a:latin typeface="Times New Roman"/>
              </a:rPr>
              <a:t>30 FPS workshop camera auditing mandatory PPE &amp; safety compliance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30% Vernacular Oral Viva: </a:t>
            </a:r>
            <a:r>
              <a:rPr sz="1200" b="0">
                <a:latin typeface="Times New Roman"/>
              </a:rPr>
              <a:t>Colloquial Hindi &amp; Marathi via Indic ASR speech recognition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Anti-Proxy Audio Telemetry: </a:t>
            </a:r>
            <a:r>
              <a:rPr sz="1200" b="0">
                <a:latin typeface="Times New Roman"/>
              </a:rPr>
              <a:t>Audio diarization &amp; voiceprint biometric liveness eliminating fraud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Zone of Proximal Development: </a:t>
            </a:r>
            <a:r>
              <a:rPr sz="1200" b="0">
                <a:latin typeface="Times New Roman"/>
              </a:rPr>
              <a:t>12-hr tailored micro-bridge with in-page 2-min retest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5 National QPs: </a:t>
            </a:r>
            <a:r>
              <a:rPr sz="1200" b="0">
                <a:latin typeface="Times New Roman"/>
              </a:rPr>
              <a:t>Automotive Technician, CNC Turning, Solar PV, Electrician &amp; Welder MMAW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W3C Verifiable Credentials: </a:t>
            </a:r>
            <a:r>
              <a:rPr sz="1200" b="0">
                <a:latin typeface="Times New Roman"/>
              </a:rPr>
              <a:t>Ed25519 digital signatures &amp; instant mobile QR verification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Statutory Wage Surge: </a:t>
            </a:r>
            <a:r>
              <a:rPr sz="1200" b="0">
                <a:latin typeface="Times New Roman"/>
              </a:rPr>
              <a:t>Minimum Wages Act 1948 (+₹1.26L/yr uplift) &amp; NAPS employer hiring</a:t>
            </a:r>
          </a:p>
        </p:txBody>
      </p:sp>
      <p:sp>
        <p:nvSpPr>
          <p:cNvPr descr="Your startup LOGO" id="108" name="Google Shape;108;p2"/>
          <p:cNvSpPr/>
          <p:nvPr/>
        </p:nvSpPr>
        <p:spPr>
          <a:xfrm>
            <a:off x="0" y="136875"/>
            <a:ext cx="1681800" cy="7227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PERCEPTRON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3013" y="60440"/>
            <a:ext cx="1681800" cy="85669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111" name="Google Shape;111;p2"/>
          <p:cNvSpPr txBox="1"/>
          <p:nvPr/>
        </p:nvSpPr>
        <p:spPr>
          <a:xfrm>
            <a:off x="3467675" y="3277775"/>
            <a:ext cx="8753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12" name="Picture 111" descr="slide2_multimodal_u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1220" y="3249334"/>
            <a:ext cx="5374106" cy="29995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0" y="6492875"/>
            <a:ext cx="12192000" cy="365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rPr sz="3600" b="1">
                <a:latin typeface="Times New Roman"/>
              </a:rPr>
              <a:t>TECHNICAL APPROACH</a:t>
            </a:r>
          </a:p>
        </p:txBody>
      </p:sp>
      <p:sp>
        <p:nvSpPr>
          <p:cNvPr id="119" name="Google Shape;119;p3"/>
          <p:cNvSpPr txBox="1"/>
          <p:nvPr/>
        </p:nvSpPr>
        <p:spPr>
          <a:xfrm>
            <a:off x="146625" y="1095375"/>
            <a:ext cx="4309200" cy="6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Times New Roman"/>
              </a:rPr>
              <a:t>Software Applications: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Next.js 16 + React 19 – </a:t>
            </a:r>
            <a:r>
              <a:rPr sz="1150" b="0">
                <a:latin typeface="Times New Roman"/>
              </a:rPr>
              <a:t>Full-stack web app, PWA offline caching &amp; MSDE cockpit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Python &amp; Node.js – </a:t>
            </a:r>
            <a:r>
              <a:rPr sz="1150" b="0">
                <a:latin typeface="Times New Roman"/>
              </a:rPr>
              <a:t>Audio signal processing &amp; edge telemetry ingestion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Bhashini / Indic-ASR – </a:t>
            </a:r>
            <a:r>
              <a:rPr sz="1150" b="0">
                <a:latin typeface="Times New Roman"/>
              </a:rPr>
              <a:t>Vernacular Hindi &amp; Marathi speech-to-text recognition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YOLOv8-Workshop – </a:t>
            </a:r>
            <a:r>
              <a:rPr sz="1150" b="0">
                <a:latin typeface="Times New Roman"/>
              </a:rPr>
              <a:t>Edge computer vision PPE &amp; safety compliance detection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Virtual Tool Simulator – </a:t>
            </a:r>
            <a:r>
              <a:rPr sz="1150" b="0">
                <a:latin typeface="Times New Roman"/>
              </a:rPr>
              <a:t>Digital micrometer, true-RMS multimeter &amp; weld reticle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Zone of Proximal Development – </a:t>
            </a:r>
            <a:r>
              <a:rPr sz="1150" b="0">
                <a:latin typeface="Times New Roman"/>
              </a:rPr>
              <a:t>Algorithmic 12-hr micro-bridge synthesizer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PostgreSQL + SQLite / Prisma – </a:t>
            </a:r>
            <a:r>
              <a:rPr sz="1150" b="0">
                <a:latin typeface="Times New Roman"/>
              </a:rPr>
              <a:t>Learner dossiers &amp; NSQF NOS standards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W3C Verifiable Credentials – </a:t>
            </a:r>
            <a:r>
              <a:rPr sz="1150" b="0">
                <a:latin typeface="Times New Roman"/>
              </a:rPr>
              <a:t>Ed25519 cryptographic proofs &amp; JSON-LD standard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Zod + TypeScript – </a:t>
            </a:r>
            <a:r>
              <a:rPr sz="1150" b="0">
                <a:latin typeface="Times New Roman"/>
              </a:rPr>
              <a:t>Strict end-to-end runtime validation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Vitest Test Suite – </a:t>
            </a:r>
            <a:r>
              <a:rPr sz="1150" b="0">
                <a:latin typeface="Times New Roman"/>
              </a:rPr>
              <a:t>210/210 automated unit and integration tests (100% green)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Render Cloud Platform – </a:t>
            </a:r>
            <a:r>
              <a:rPr sz="1150" b="0">
                <a:latin typeface="Times New Roman"/>
              </a:rPr>
              <a:t>Live auto-scaling deployment (sih-rpl-ai.onrender.com)</a:t>
            </a:r>
          </a:p>
        </p:txBody>
      </p:sp>
      <p:sp>
        <p:nvSpPr>
          <p:cNvPr id="120" name="Google Shape;120;p3"/>
          <p:cNvSpPr txBox="1"/>
          <p:nvPr>
            <p:ph idx="12" type="sldNum"/>
          </p:nvPr>
        </p:nvSpPr>
        <p:spPr>
          <a:xfrm>
            <a:off x="8737600" y="6475416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IN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cxnSp>
        <p:nvCxnSpPr>
          <p:cNvPr id="121" name="Google Shape;121;p3"/>
          <p:cNvCxnSpPr/>
          <p:nvPr/>
        </p:nvCxnSpPr>
        <p:spPr>
          <a:xfrm flipH="1" rot="10800000">
            <a:off x="-14425" y="981400"/>
            <a:ext cx="12223800" cy="144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22" name="Google Shape;122;p3"/>
          <p:cNvCxnSpPr/>
          <p:nvPr/>
        </p:nvCxnSpPr>
        <p:spPr>
          <a:xfrm flipH="1">
            <a:off x="4419175" y="1012238"/>
            <a:ext cx="16500" cy="54642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23" name="Google Shape;123;p3"/>
          <p:cNvSpPr txBox="1"/>
          <p:nvPr/>
        </p:nvSpPr>
        <p:spPr>
          <a:xfrm>
            <a:off x="5469006" y="1148150"/>
            <a:ext cx="642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FLOWCHART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3"/>
          <p:cNvCxnSpPr/>
          <p:nvPr/>
        </p:nvCxnSpPr>
        <p:spPr>
          <a:xfrm>
            <a:off x="8425875" y="992600"/>
            <a:ext cx="600" cy="56439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25" name="Google Shape;125;p3"/>
          <p:cNvSpPr txBox="1"/>
          <p:nvPr/>
        </p:nvSpPr>
        <p:spPr>
          <a:xfrm flipH="1">
            <a:off x="9086118" y="1139525"/>
            <a:ext cx="277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ctr"/>
            <a:r>
              <a:rPr sz="2400" b="1">
                <a:latin typeface="Calibri"/>
              </a:rPr>
              <a:t>Layers of Approach</a:t>
            </a:r>
          </a:p>
        </p:txBody>
      </p:sp>
      <p:sp>
        <p:nvSpPr>
          <p:cNvPr id="126" name="Google Shape;126;p3"/>
          <p:cNvSpPr txBox="1"/>
          <p:nvPr/>
        </p:nvSpPr>
        <p:spPr>
          <a:xfrm>
            <a:off x="8948124" y="2125113"/>
            <a:ext cx="3049500" cy="47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latin typeface="Times New Roman"/>
              </a:rPr>
              <a:t>Experiential Candidate Onboarding &amp; Dialect Selection</a:t>
            </a:r>
          </a:p>
          <a:p>
            <a:pPr algn="ctr">
              <a:spcAft>
                <a:spcPts val="200"/>
              </a:spcAft>
            </a:pPr>
            <a:r>
              <a:rPr sz="1500" b="1">
                <a:latin typeface="Times New Roman"/>
              </a:rPr>
              <a:t>↓</a:t>
            </a:r>
          </a:p>
          <a:p>
            <a:pPr algn="l">
              <a:spcAft>
                <a:spcPts val="100"/>
              </a:spcAft>
            </a:pPr>
            <a:r>
              <a:rPr sz="1200" b="1">
                <a:latin typeface="Times New Roman"/>
              </a:rPr>
              <a:t>Vernacular Oral Viva (30%) + Voiceprint Biometrics</a:t>
            </a:r>
          </a:p>
          <a:p>
            <a:pPr algn="ctr">
              <a:spcAft>
                <a:spcPts val="200"/>
              </a:spcAft>
            </a:pPr>
            <a:r>
              <a:rPr sz="1500" b="1">
                <a:latin typeface="Times New Roman"/>
              </a:rPr>
              <a:t>↓</a:t>
            </a:r>
          </a:p>
          <a:p>
            <a:pPr algn="l">
              <a:spcAft>
                <a:spcPts val="100"/>
              </a:spcAft>
            </a:pPr>
            <a:r>
              <a:rPr sz="1200" b="1">
                <a:latin typeface="Times New Roman"/>
              </a:rPr>
              <a:t>Hands-On Tool Telemetry (70%) &amp; Edge CV PPE Audit</a:t>
            </a:r>
          </a:p>
          <a:p>
            <a:pPr algn="ctr">
              <a:spcAft>
                <a:spcPts val="200"/>
              </a:spcAft>
            </a:pPr>
            <a:r>
              <a:rPr sz="1500" b="1">
                <a:latin typeface="Times New Roman"/>
              </a:rPr>
              <a:t>↓</a:t>
            </a:r>
          </a:p>
          <a:p>
            <a:pPr algn="l">
              <a:spcAft>
                <a:spcPts val="100"/>
              </a:spcAft>
            </a:pPr>
            <a:r>
              <a:rPr sz="1200" b="1">
                <a:latin typeface="Times New Roman"/>
              </a:rPr>
              <a:t>Continuous NOS Scoring vs 70% PMKVY Threshold</a:t>
            </a:r>
          </a:p>
          <a:p>
            <a:pPr algn="ctr">
              <a:spcAft>
                <a:spcPts val="200"/>
              </a:spcAft>
            </a:pPr>
            <a:r>
              <a:rPr sz="1500" b="1">
                <a:latin typeface="Times New Roman"/>
              </a:rPr>
              <a:t>↓</a:t>
            </a:r>
          </a:p>
          <a:p>
            <a:pPr algn="l">
              <a:spcAft>
                <a:spcPts val="100"/>
              </a:spcAft>
            </a:pPr>
            <a:r>
              <a:rPr sz="1200" b="1">
                <a:latin typeface="Times New Roman"/>
              </a:rPr>
              <a:t>ZPD 12-Hour Micro-Bridge Remediation (50%–69%)</a:t>
            </a:r>
          </a:p>
          <a:p>
            <a:pPr algn="ctr">
              <a:spcAft>
                <a:spcPts val="200"/>
              </a:spcAft>
            </a:pPr>
            <a:r>
              <a:rPr sz="1500" b="1">
                <a:latin typeface="Times New Roman"/>
              </a:rPr>
              <a:t>↓</a:t>
            </a:r>
          </a:p>
          <a:p>
            <a:pPr algn="l">
              <a:spcAft>
                <a:spcPts val="100"/>
              </a:spcAft>
            </a:pPr>
            <a:r>
              <a:rPr sz="1200" b="1">
                <a:latin typeface="Times New Roman"/>
              </a:rPr>
              <a:t>W3C Verifiable Credential (Ed25519) &amp; NAPS Placement</a:t>
            </a:r>
          </a:p>
        </p:txBody>
      </p:sp>
      <p:cxnSp>
        <p:nvCxnSpPr>
          <p:cNvPr id="127" name="Google Shape;127;p3"/>
          <p:cNvCxnSpPr/>
          <p:nvPr/>
        </p:nvCxnSpPr>
        <p:spPr>
          <a:xfrm flipH="1" rot="10800000">
            <a:off x="0" y="1645350"/>
            <a:ext cx="12209400" cy="576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descr="Your startup LOGO" id="128" name="Google Shape;128;p3"/>
          <p:cNvSpPr/>
          <p:nvPr/>
        </p:nvSpPr>
        <p:spPr>
          <a:xfrm>
            <a:off x="97825" y="92550"/>
            <a:ext cx="1681800" cy="7227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PERCEPTRON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6946" y="47025"/>
            <a:ext cx="1771528" cy="9024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130" name="Picture 129" descr="slide3_tech_flowchar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7763" y="1748663"/>
            <a:ext cx="3826025" cy="4698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0" y="6492875"/>
            <a:ext cx="12165900" cy="365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rPr sz="3600" b="1">
                <a:latin typeface="Times New Roman"/>
              </a:rPr>
              <a:t>FEASIBILITY  AND  VIABILITY</a:t>
            </a:r>
          </a:p>
        </p:txBody>
      </p:sp>
      <p:sp>
        <p:nvSpPr>
          <p:cNvPr id="138" name="Google Shape;138;p4"/>
          <p:cNvSpPr txBox="1"/>
          <p:nvPr/>
        </p:nvSpPr>
        <p:spPr>
          <a:xfrm>
            <a:off x="188151" y="1150810"/>
            <a:ext cx="5999400" cy="27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>
              <a:spcAft>
                <a:spcPts val="400"/>
              </a:spcAft>
            </a:pPr>
            <a:r>
              <a:rPr sz="2300" b="1">
                <a:latin typeface="Times New Roman"/>
              </a:rPr>
              <a:t>Feasibility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Technical readiness – </a:t>
            </a:r>
            <a:r>
              <a:rPr sz="1200" b="0">
                <a:latin typeface="Times New Roman"/>
              </a:rPr>
              <a:t>Production-grade platform with 210/210 tests passing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Accessibility – </a:t>
            </a:r>
            <a:r>
              <a:rPr sz="1200" b="0">
                <a:latin typeface="Times New Roman"/>
              </a:rPr>
              <a:t>Vernacular voice overcoming reading &amp; writing literacy barriers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Hardware independence – </a:t>
            </a:r>
            <a:r>
              <a:rPr sz="1200" b="0">
                <a:latin typeface="Times New Roman"/>
              </a:rPr>
              <a:t>Browser-based precision tooling without testing rigs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Regulatory alignment – </a:t>
            </a:r>
            <a:r>
              <a:rPr sz="1200" b="0">
                <a:latin typeface="Times New Roman"/>
              </a:rPr>
              <a:t>100% compliant with MSDE PMKVY 4.0 RPL guidelines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Scalability – </a:t>
            </a:r>
            <a:r>
              <a:rPr sz="1200" b="0">
                <a:latin typeface="Times New Roman"/>
              </a:rPr>
              <a:t>Low-latency Edge AI running smoothly on budget Android devices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Integration – </a:t>
            </a:r>
            <a:r>
              <a:rPr sz="1200" b="0">
                <a:latin typeface="Times New Roman"/>
              </a:rPr>
              <a:t>Seamless linkage to DigiLocker, SIDH, and NAPS apprenticeship portals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Privacy &amp; security – </a:t>
            </a:r>
            <a:r>
              <a:rPr sz="1200" b="0">
                <a:latin typeface="Times New Roman"/>
              </a:rPr>
              <a:t>Aadhaar e-KYC masking and DPDP Act 2023 compliance</a:t>
            </a:r>
          </a:p>
        </p:txBody>
      </p:sp>
      <p:sp>
        <p:nvSpPr>
          <p:cNvPr id="139" name="Google Shape;139;p4"/>
          <p:cNvSpPr txBox="1"/>
          <p:nvPr>
            <p:ph idx="12" type="sldNum"/>
          </p:nvPr>
        </p:nvSpPr>
        <p:spPr>
          <a:xfrm>
            <a:off x="8737600" y="6462186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IN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140" name="Google Shape;140;p4"/>
          <p:cNvCxnSpPr/>
          <p:nvPr/>
        </p:nvCxnSpPr>
        <p:spPr>
          <a:xfrm flipH="1" rot="10800000">
            <a:off x="0" y="994879"/>
            <a:ext cx="12165900" cy="417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1" name="Google Shape;141;p4"/>
          <p:cNvCxnSpPr/>
          <p:nvPr/>
        </p:nvCxnSpPr>
        <p:spPr>
          <a:xfrm>
            <a:off x="6161850" y="1011300"/>
            <a:ext cx="11700" cy="54093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2" name="Google Shape;142;p4"/>
          <p:cNvCxnSpPr/>
          <p:nvPr/>
        </p:nvCxnSpPr>
        <p:spPr>
          <a:xfrm>
            <a:off x="-6462" y="4279538"/>
            <a:ext cx="12204900" cy="42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3" name="Google Shape;143;p4"/>
          <p:cNvSpPr txBox="1"/>
          <p:nvPr/>
        </p:nvSpPr>
        <p:spPr>
          <a:xfrm>
            <a:off x="6237625" y="1085825"/>
            <a:ext cx="5920500" cy="27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>
              <a:spcAft>
                <a:spcPts val="400"/>
              </a:spcAft>
            </a:pPr>
            <a:r>
              <a:rPr sz="2300" b="1">
                <a:latin typeface="Times New Roman"/>
              </a:rPr>
              <a:t>Commercial Feasibility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Unit economics: </a:t>
            </a:r>
            <a:r>
              <a:rPr sz="1150" b="0">
                <a:latin typeface="Times New Roman"/>
              </a:rPr>
              <a:t>Reduces per-candidate RPL cost from ₹1,200 to &lt;₹40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Zero CapEx: </a:t>
            </a:r>
            <a:r>
              <a:rPr sz="1150" b="0">
                <a:latin typeface="Times New Roman"/>
              </a:rPr>
              <a:t>No expensive physical lab rigs required for remote ITIs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Zero logistics: </a:t>
            </a:r>
            <a:r>
              <a:rPr sz="1150" b="0">
                <a:latin typeface="Times New Roman"/>
              </a:rPr>
              <a:t>Eliminates paper exam printing, proctor travel &amp; leak risks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Deployment flexibility: </a:t>
            </a:r>
            <a:r>
              <a:rPr sz="1150" b="0">
                <a:latin typeface="Times New Roman"/>
              </a:rPr>
              <a:t>Cloud, edge, and offline PWA for rural industrial clusters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Corporate demand: </a:t>
            </a:r>
            <a:r>
              <a:rPr sz="1150" b="0">
                <a:latin typeface="Times New Roman"/>
              </a:rPr>
              <a:t>OEM recruiter placement telemetry (Tata, L&amp;T, Mahindra)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Universal coverage: </a:t>
            </a:r>
            <a:r>
              <a:rPr sz="1150" b="0">
                <a:latin typeface="Times New Roman"/>
              </a:rPr>
              <a:t>Exportable across all 37 SSCs and 3,000+ National QPs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High wage ROI: </a:t>
            </a:r>
            <a:r>
              <a:rPr sz="1150" b="0">
                <a:latin typeface="Times New Roman"/>
              </a:rPr>
              <a:t>Statutory wage upgrade yields +₹1.26L/year uplift per worker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Competitive edge: </a:t>
            </a:r>
            <a:r>
              <a:rPr sz="1150" b="0">
                <a:latin typeface="Times New Roman"/>
              </a:rPr>
              <a:t>Voice Viva + Tool Sim + Edge CV PPE + W3C Verified</a:t>
            </a:r>
          </a:p>
        </p:txBody>
      </p:sp>
      <p:sp>
        <p:nvSpPr>
          <p:cNvPr id="144" name="Google Shape;144;p4"/>
          <p:cNvSpPr txBox="1"/>
          <p:nvPr/>
        </p:nvSpPr>
        <p:spPr>
          <a:xfrm>
            <a:off x="188152" y="4240595"/>
            <a:ext cx="58116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>
              <a:spcAft>
                <a:spcPts val="400"/>
              </a:spcAft>
            </a:pPr>
            <a:r>
              <a:rPr sz="2300" b="1">
                <a:latin typeface="Times New Roman"/>
              </a:rPr>
              <a:t>Challenges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Connectivity: </a:t>
            </a:r>
            <a:r>
              <a:rPr sz="1200" b="0">
                <a:latin typeface="Times New Roman"/>
              </a:rPr>
              <a:t>Rural low-bandwidth access in remote industrial clusters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Acoustic noise: </a:t>
            </a:r>
            <a:r>
              <a:rPr sz="1200" b="0">
                <a:latin typeface="Times New Roman"/>
              </a:rPr>
              <a:t>High ambient background noise in operating factory workshops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Dialect diversity: </a:t>
            </a:r>
            <a:r>
              <a:rPr sz="1200" b="0">
                <a:latin typeface="Times New Roman"/>
              </a:rPr>
              <a:t>Regional slang and non-standard colloquial vocational dialects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Exam integrity: </a:t>
            </a:r>
            <a:r>
              <a:rPr sz="1200" b="0">
                <a:latin typeface="Times New Roman"/>
              </a:rPr>
              <a:t>Proxy candidate impersonation and evaluation fraud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Psychological fear: </a:t>
            </a:r>
            <a:r>
              <a:rPr sz="1200" b="0">
                <a:latin typeface="Times New Roman"/>
              </a:rPr>
              <a:t>Rejection fatigue and exam anxiety among veteran craftsmen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Industry skepticism: </a:t>
            </a:r>
            <a:r>
              <a:rPr sz="1200" b="0">
                <a:latin typeface="Times New Roman"/>
              </a:rPr>
              <a:t>Employer hesitation regarding informal skill parity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Institutional inertia: </a:t>
            </a:r>
            <a:r>
              <a:rPr sz="1200" b="0">
                <a:latin typeface="Times New Roman"/>
              </a:rPr>
              <a:t>Assessor resistance to automated evaluation workflows</a:t>
            </a:r>
          </a:p>
        </p:txBody>
      </p:sp>
      <p:sp>
        <p:nvSpPr>
          <p:cNvPr id="145" name="Google Shape;145;p4"/>
          <p:cNvSpPr txBox="1"/>
          <p:nvPr/>
        </p:nvSpPr>
        <p:spPr>
          <a:xfrm>
            <a:off x="6335650" y="4220225"/>
            <a:ext cx="57132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>
              <a:spcAft>
                <a:spcPts val="400"/>
              </a:spcAft>
            </a:pPr>
            <a:r>
              <a:rPr sz="2300" b="1">
                <a:latin typeface="Times New Roman"/>
              </a:rPr>
              <a:t>Strategy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Offline-first PWA: </a:t>
            </a:r>
            <a:r>
              <a:rPr sz="1200" b="0">
                <a:latin typeface="Times New Roman"/>
              </a:rPr>
              <a:t>Local caching with client-side WebAssembly execution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Spectral noise gate: </a:t>
            </a:r>
            <a:r>
              <a:rPr sz="1200" b="0">
                <a:latin typeface="Times New Roman"/>
              </a:rPr>
              <a:t>Hardware-accelerated (-18dB) suppression of workshop hum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Vernacular ASR: </a:t>
            </a:r>
            <a:r>
              <a:rPr sz="1200" b="0">
                <a:latin typeface="Times New Roman"/>
              </a:rPr>
              <a:t>Bhashini acoustic dialect normalization for trade vocabulary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Anti-proxy biometrics: </a:t>
            </a:r>
            <a:r>
              <a:rPr sz="1200" b="0">
                <a:latin typeface="Times New Roman"/>
              </a:rPr>
              <a:t>Multi-voice diarization &amp; pitch liveness telemetry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Zero rejection policy: </a:t>
            </a:r>
            <a:r>
              <a:rPr sz="1200" b="0">
                <a:latin typeface="Times New Roman"/>
              </a:rPr>
              <a:t>12-hr ZPD micro-bridge with instant in-page retest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Tamper-proof QR: </a:t>
            </a:r>
            <a:r>
              <a:rPr sz="1200" b="0">
                <a:latin typeface="Times New Roman"/>
              </a:rPr>
              <a:t>Cryptographic Ed25519 verification proving raw telemetry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Assessor-copilot: </a:t>
            </a:r>
            <a:r>
              <a:rPr sz="1200" b="0">
                <a:latin typeface="Times New Roman"/>
              </a:rPr>
              <a:t>AI assists human evaluators rather than displacing them</a:t>
            </a:r>
          </a:p>
        </p:txBody>
      </p:sp>
      <p:sp>
        <p:nvSpPr>
          <p:cNvPr descr="Your startup LOGO" id="146" name="Google Shape;146;p4"/>
          <p:cNvSpPr/>
          <p:nvPr/>
        </p:nvSpPr>
        <p:spPr>
          <a:xfrm>
            <a:off x="97825" y="93500"/>
            <a:ext cx="1771500" cy="7227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PERCEPTRON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6946" y="47025"/>
            <a:ext cx="1771528" cy="9024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/>
          <p:nvPr/>
        </p:nvSpPr>
        <p:spPr>
          <a:xfrm>
            <a:off x="0" y="6492875"/>
            <a:ext cx="12215100" cy="365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rPr sz="3600" b="1">
                <a:latin typeface="Times New Roman"/>
              </a:rPr>
              <a:t>IMPACT AND BENEFITS</a:t>
            </a:r>
          </a:p>
        </p:txBody>
      </p:sp>
      <p:sp>
        <p:nvSpPr>
          <p:cNvPr id="155" name="Google Shape;155;p5"/>
          <p:cNvSpPr txBox="1"/>
          <p:nvPr/>
        </p:nvSpPr>
        <p:spPr>
          <a:xfrm>
            <a:off x="211674" y="1094850"/>
            <a:ext cx="5792100" cy="30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>
              <a:spcAft>
                <a:spcPts val="400"/>
              </a:spcAft>
            </a:pPr>
            <a:r>
              <a:rPr sz="2300" b="1">
                <a:latin typeface="Times New Roman"/>
              </a:rPr>
              <a:t>Direct Impact on Target Users: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Informal Craftsmen – </a:t>
            </a:r>
            <a:r>
              <a:rPr sz="1200" b="0">
                <a:latin typeface="Times New Roman"/>
              </a:rPr>
              <a:t>Dignified NSQF certification overcoming literacy barriers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Rural Helpers – </a:t>
            </a:r>
            <a:r>
              <a:rPr sz="1200" b="0">
                <a:latin typeface="Times New Roman"/>
              </a:rPr>
              <a:t>Fast-track career ladder from informal helper to certified technician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Workshop MSMEs – </a:t>
            </a:r>
            <a:r>
              <a:rPr sz="1200" b="0">
                <a:latin typeface="Times New Roman"/>
              </a:rPr>
              <a:t>Standardized skill verification without trial-and-error hiring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Manufacturing OEMs – </a:t>
            </a:r>
            <a:r>
              <a:rPr sz="1200" b="0">
                <a:latin typeface="Times New Roman"/>
              </a:rPr>
              <a:t>Pre-verified talent matching for NAPS apprenticeship schemes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Training Centers &amp; ITIs – </a:t>
            </a:r>
            <a:r>
              <a:rPr sz="1200" b="0">
                <a:latin typeface="Times New Roman"/>
              </a:rPr>
              <a:t>10x throughput capacity without physical lab rig bottlenecks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Ministry Evaluators – </a:t>
            </a:r>
            <a:r>
              <a:rPr sz="1200" b="0">
                <a:latin typeface="Times New Roman"/>
              </a:rPr>
              <a:t>Real-time district-wise RPL telemetry with anti-fraud auditing</a:t>
            </a:r>
          </a:p>
        </p:txBody>
      </p:sp>
      <p:sp>
        <p:nvSpPr>
          <p:cNvPr id="156" name="Google Shape;156;p5"/>
          <p:cNvSpPr txBox="1"/>
          <p:nvPr>
            <p:ph idx="12" type="sldNum"/>
          </p:nvPr>
        </p:nvSpPr>
        <p:spPr>
          <a:xfrm>
            <a:off x="8737600" y="6462186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IN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57" name="Google Shape;157;p5"/>
          <p:cNvSpPr/>
          <p:nvPr/>
        </p:nvSpPr>
        <p:spPr>
          <a:xfrm>
            <a:off x="97825" y="93500"/>
            <a:ext cx="1771500" cy="7227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PERCEPTRON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5"/>
          <p:cNvCxnSpPr/>
          <p:nvPr/>
        </p:nvCxnSpPr>
        <p:spPr>
          <a:xfrm flipH="1" rot="10800000">
            <a:off x="0" y="991180"/>
            <a:ext cx="12215100" cy="684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9" name="Google Shape;159;p5"/>
          <p:cNvCxnSpPr/>
          <p:nvPr/>
        </p:nvCxnSpPr>
        <p:spPr>
          <a:xfrm>
            <a:off x="6003892" y="1016850"/>
            <a:ext cx="16800" cy="54861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0" name="Google Shape;160;p5"/>
          <p:cNvCxnSpPr/>
          <p:nvPr/>
        </p:nvCxnSpPr>
        <p:spPr>
          <a:xfrm>
            <a:off x="35100" y="3918196"/>
            <a:ext cx="5985600" cy="141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1" name="Google Shape;161;p5"/>
          <p:cNvSpPr txBox="1"/>
          <p:nvPr/>
        </p:nvSpPr>
        <p:spPr>
          <a:xfrm>
            <a:off x="211670" y="4061913"/>
            <a:ext cx="5904900" cy="23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>
              <a:spcAft>
                <a:spcPts val="400"/>
              </a:spcAft>
            </a:pPr>
            <a:r>
              <a:rPr sz="2300" b="1">
                <a:latin typeface="Times New Roman"/>
              </a:rPr>
              <a:t>Strategic Impact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National RPL scale: </a:t>
            </a:r>
            <a:r>
              <a:rPr sz="1150" b="0">
                <a:latin typeface="Times New Roman"/>
              </a:rPr>
              <a:t>Accelerates certification towards PMKVY 4.0 targets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Formalization: </a:t>
            </a:r>
            <a:r>
              <a:rPr sz="1150" b="0">
                <a:latin typeface="Times New Roman"/>
              </a:rPr>
              <a:t>Integrates 400M+ unorganized workers into the formal safety net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Zero forgery: </a:t>
            </a:r>
            <a:r>
              <a:rPr sz="1150" b="0">
                <a:latin typeface="Times New Roman"/>
              </a:rPr>
              <a:t>Eliminates fake certificates through tamper-proof W3C signatures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Inclusive parity: </a:t>
            </a:r>
            <a:r>
              <a:rPr sz="1150" b="0">
                <a:latin typeface="Times New Roman"/>
              </a:rPr>
              <a:t>Bridges regional and socio-economic demographic divides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Credit mobility: </a:t>
            </a:r>
            <a:r>
              <a:rPr sz="1150" b="0">
                <a:latin typeface="Times New Roman"/>
              </a:rPr>
              <a:t>Anchors experiential learning to Academic Bank of Credits (ABC)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National registry: </a:t>
            </a:r>
            <a:r>
              <a:rPr sz="1150" b="0">
                <a:latin typeface="Times New Roman"/>
              </a:rPr>
              <a:t>Creates an unforgeable skill ledger under Skill India Digital Hub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Global benchmark: </a:t>
            </a:r>
            <a:r>
              <a:rPr sz="1150" b="0">
                <a:latin typeface="Times New Roman"/>
              </a:rPr>
              <a:t>Establishes India as a pioneer in AI-assisted vocational RPL</a:t>
            </a:r>
          </a:p>
        </p:txBody>
      </p:sp>
      <p:sp>
        <p:nvSpPr>
          <p:cNvPr id="162" name="Google Shape;162;p5"/>
          <p:cNvSpPr txBox="1"/>
          <p:nvPr/>
        </p:nvSpPr>
        <p:spPr>
          <a:xfrm>
            <a:off x="6221490" y="1001050"/>
            <a:ext cx="63603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>
              <a:spcAft>
                <a:spcPts val="400"/>
              </a:spcAft>
            </a:pPr>
            <a:r>
              <a:rPr sz="2300" b="1">
                <a:latin typeface="Times New Roman"/>
              </a:rPr>
              <a:t>Economic &amp; Strategic Benefits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Statutory wage surge: </a:t>
            </a:r>
            <a:r>
              <a:rPr sz="1200" b="0">
                <a:latin typeface="Times New Roman"/>
              </a:rPr>
              <a:t>Informal ₹450/day → legal ₹865/day (+95% wage surge)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Statutory protections: </a:t>
            </a:r>
            <a:r>
              <a:rPr sz="1200" b="0">
                <a:latin typeface="Times New Roman"/>
              </a:rPr>
              <a:t>Mandatory ESIC medical coverage &amp; EPFO pension access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Rapid placement: </a:t>
            </a:r>
            <a:r>
              <a:rPr sz="1200" b="0">
                <a:latin typeface="Times New Roman"/>
              </a:rPr>
              <a:t>84.3% placement rate into paid industrial apprenticeships in 14 days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Public cost savings: </a:t>
            </a:r>
            <a:r>
              <a:rPr sz="1200" b="0">
                <a:latin typeface="Times New Roman"/>
              </a:rPr>
              <a:t>₹1,160 saved per assessment compared to legacy manual RPL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Zero licensing fee: </a:t>
            </a:r>
            <a:r>
              <a:rPr sz="1200" b="0">
                <a:latin typeface="Times New Roman"/>
              </a:rPr>
              <a:t>Built on open-source stack with zero SaaS lock-in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National integrations: </a:t>
            </a:r>
            <a:r>
              <a:rPr sz="1200" b="0">
                <a:latin typeface="Times New Roman"/>
              </a:rPr>
              <a:t>Live connectivity with DigiLocker, SIDH, and NCS portals</a:t>
            </a:r>
          </a:p>
          <a:p>
            <a:pPr>
              <a:spcAft>
                <a:spcPts val="200"/>
              </a:spcAft>
            </a:pPr>
            <a:r>
              <a:rPr sz="1200" b="1">
                <a:latin typeface="Times New Roman"/>
              </a:rPr>
              <a:t>• Feedback loop: </a:t>
            </a:r>
            <a:r>
              <a:rPr sz="1200" b="0">
                <a:latin typeface="Times New Roman"/>
              </a:rPr>
              <a:t>Telemetry continuously informs Sector Skill Council QP standards</a:t>
            </a:r>
          </a:p>
        </p:txBody>
      </p:sp>
      <p:pic>
        <p:nvPicPr>
          <p:cNvPr id="163" name="Google Shape;16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6946" y="47025"/>
            <a:ext cx="1771528" cy="9024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164" name="Picture 163" descr="slide5_socio_economic_impac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5899" y="3472540"/>
            <a:ext cx="5429483" cy="30304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/>
          <p:nvPr/>
        </p:nvSpPr>
        <p:spPr>
          <a:xfrm>
            <a:off x="0" y="6492875"/>
            <a:ext cx="12192000" cy="365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rPr sz="3600" b="1">
                <a:latin typeface="Times New Roman"/>
              </a:rPr>
              <a:t>RESEARCH  AND REFERENCES</a:t>
            </a:r>
          </a:p>
        </p:txBody>
      </p:sp>
      <p:sp>
        <p:nvSpPr>
          <p:cNvPr id="172" name="Google Shape;172;p6"/>
          <p:cNvSpPr txBox="1"/>
          <p:nvPr>
            <p:ph idx="12" type="sldNum"/>
          </p:nvPr>
        </p:nvSpPr>
        <p:spPr>
          <a:xfrm>
            <a:off x="10001250" y="6493350"/>
            <a:ext cx="158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IN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173" name="Google Shape;173;p6"/>
          <p:cNvCxnSpPr/>
          <p:nvPr/>
        </p:nvCxnSpPr>
        <p:spPr>
          <a:xfrm>
            <a:off x="0" y="1010438"/>
            <a:ext cx="121920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4" name="Google Shape;174;p6"/>
          <p:cNvSpPr txBox="1"/>
          <p:nvPr/>
        </p:nvSpPr>
        <p:spPr>
          <a:xfrm>
            <a:off x="7000" y="941575"/>
            <a:ext cx="6195900" cy="28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>
              <a:spcAft>
                <a:spcPts val="400"/>
              </a:spcAft>
            </a:pPr>
            <a:r>
              <a:rPr sz="2100" b="1">
                <a:latin typeface="Times New Roman"/>
              </a:rPr>
              <a:t>Gap &amp; Problem Identification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90%+ uncertified workforce: </a:t>
            </a:r>
            <a:r>
              <a:rPr sz="1150" b="0">
                <a:latin typeface="Times New Roman"/>
              </a:rPr>
              <a:t>Lacks formal qualifications (NSSO 68th Round)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Severe test dropout: </a:t>
            </a:r>
            <a:r>
              <a:rPr sz="1150" b="0">
                <a:latin typeface="Times New Roman"/>
              </a:rPr>
              <a:t>Caused by written exam anxiety among literate/illiterate workers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Geographic disparity: </a:t>
            </a:r>
            <a:r>
              <a:rPr sz="1150" b="0">
                <a:latin typeface="Times New Roman"/>
              </a:rPr>
              <a:t>Physical testing labs concentrated solely in Tier-1 cities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Subjective scoring: </a:t>
            </a:r>
            <a:r>
              <a:rPr sz="1150" b="0">
                <a:latin typeface="Times New Roman"/>
              </a:rPr>
              <a:t>Human assessor grading introduces regional bias &amp; corruption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Binary pass/fail waste: </a:t>
            </a:r>
            <a:r>
              <a:rPr sz="1150" b="0">
                <a:latin typeface="Times New Roman"/>
              </a:rPr>
              <a:t>Discards candidates with minor, remediable skill gaps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Rampant credential forgery: </a:t>
            </a:r>
            <a:r>
              <a:rPr sz="1150" b="0">
                <a:latin typeface="Times New Roman"/>
              </a:rPr>
              <a:t>Dilutes employer trust in conventional certificates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Zero outcome tracking: </a:t>
            </a:r>
            <a:r>
              <a:rPr sz="1150" b="0">
                <a:latin typeface="Times New Roman"/>
              </a:rPr>
              <a:t>No post-assessment monitoring of wage uplift or retention</a:t>
            </a:r>
          </a:p>
        </p:txBody>
      </p:sp>
      <p:cxnSp>
        <p:nvCxnSpPr>
          <p:cNvPr id="175" name="Google Shape;175;p6"/>
          <p:cNvCxnSpPr/>
          <p:nvPr/>
        </p:nvCxnSpPr>
        <p:spPr>
          <a:xfrm>
            <a:off x="5985475" y="1046575"/>
            <a:ext cx="16500" cy="54213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76" name="Google Shape;176;p6"/>
          <p:cNvCxnSpPr/>
          <p:nvPr/>
        </p:nvCxnSpPr>
        <p:spPr>
          <a:xfrm flipH="1" rot="10800000">
            <a:off x="0" y="3682250"/>
            <a:ext cx="12260100" cy="855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7" name="Google Shape;177;p6"/>
          <p:cNvSpPr txBox="1"/>
          <p:nvPr/>
        </p:nvSpPr>
        <p:spPr>
          <a:xfrm>
            <a:off x="6195764" y="988632"/>
            <a:ext cx="6532800" cy="2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>
              <a:spcAft>
                <a:spcPts val="400"/>
              </a:spcAft>
            </a:pPr>
            <a:r>
              <a:rPr sz="2100" b="1">
                <a:latin typeface="Times New Roman"/>
              </a:rPr>
              <a:t>Economic &amp; Strategic Landscape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PMKVY 4.0 RPL mandate: </a:t>
            </a:r>
            <a:r>
              <a:rPr sz="1150" b="0">
                <a:latin typeface="Times New Roman"/>
              </a:rPr>
              <a:t>Formal policy prioritization for prior experiential learning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Minimum Wages Act 1948: </a:t>
            </a:r>
            <a:r>
              <a:rPr sz="1150" b="0">
                <a:latin typeface="Times New Roman"/>
              </a:rPr>
              <a:t>Statutory wage floors for certified trade technicians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NAPS employer demand: </a:t>
            </a:r>
            <a:r>
              <a:rPr sz="1150" b="0">
                <a:latin typeface="Times New Roman"/>
              </a:rPr>
              <a:t>Apprenticeship schemes require pre-verified skilled candidates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Unified digital architecture: </a:t>
            </a:r>
            <a:r>
              <a:rPr sz="1150" b="0">
                <a:latin typeface="Times New Roman"/>
              </a:rPr>
              <a:t>Skill India Digital Hub (SIDH) national framework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High economic ROI: </a:t>
            </a:r>
            <a:r>
              <a:rPr sz="1150" b="0">
                <a:latin typeface="Times New Roman"/>
              </a:rPr>
              <a:t>Every ₹1 invested in RPL yields ₹8.4 in cumulative worker earnings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MSME labor shortage: </a:t>
            </a:r>
            <a:r>
              <a:rPr sz="1150" b="0">
                <a:latin typeface="Times New Roman"/>
              </a:rPr>
              <a:t>Manufacturing clusters face severe deficit of verified talent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Global migration: </a:t>
            </a:r>
            <a:r>
              <a:rPr sz="1150" b="0">
                <a:latin typeface="Times New Roman"/>
              </a:rPr>
              <a:t>NSQF alignment facilitates legal overseas placement in Gulf &amp; EU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Cross-trade scalability: </a:t>
            </a:r>
            <a:r>
              <a:rPr sz="1150" b="0">
                <a:latin typeface="Times New Roman"/>
              </a:rPr>
              <a:t>Automotive, CNC Machining, Solar PV, Electrical &amp; Welding</a:t>
            </a:r>
          </a:p>
        </p:txBody>
      </p:sp>
      <p:sp>
        <p:nvSpPr>
          <p:cNvPr id="178" name="Google Shape;178;p6"/>
          <p:cNvSpPr txBox="1"/>
          <p:nvPr/>
        </p:nvSpPr>
        <p:spPr>
          <a:xfrm>
            <a:off x="219550" y="3914541"/>
            <a:ext cx="5770800" cy="27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>
              <a:spcAft>
                <a:spcPts val="400"/>
              </a:spcAft>
            </a:pPr>
            <a:r>
              <a:rPr sz="2100" b="1">
                <a:latin typeface="Times New Roman"/>
              </a:rPr>
              <a:t>Technology Benchmarking</a:t>
            </a:r>
          </a:p>
          <a:p>
            <a:pPr>
              <a:spcAft>
                <a:spcPts val="300"/>
              </a:spcAft>
            </a:pPr>
            <a:r>
              <a:rPr sz="1250" b="1">
                <a:latin typeface="Times New Roman"/>
              </a:rPr>
              <a:t>• Traditional RPL Exams: </a:t>
            </a:r>
            <a:r>
              <a:rPr sz="1250" b="0">
                <a:latin typeface="Times New Roman"/>
              </a:rPr>
              <a:t>Paper MCQs &amp; subjective human interviewers (High bias)</a:t>
            </a:r>
          </a:p>
          <a:p>
            <a:pPr>
              <a:spcAft>
                <a:spcPts val="300"/>
              </a:spcAft>
            </a:pPr>
            <a:r>
              <a:rPr sz="1250" b="1">
                <a:latin typeface="Times New Roman"/>
              </a:rPr>
              <a:t>• Generic LMS Platforms: </a:t>
            </a:r>
            <a:r>
              <a:rPr sz="1250" b="0">
                <a:latin typeface="Times New Roman"/>
              </a:rPr>
              <a:t>Text-heavy screens with zero hands-on tooling capability</a:t>
            </a:r>
          </a:p>
          <a:p>
            <a:pPr>
              <a:spcAft>
                <a:spcPts val="300"/>
              </a:spcAft>
            </a:pPr>
            <a:r>
              <a:rPr sz="1250" b="1">
                <a:latin typeface="Times New Roman"/>
              </a:rPr>
              <a:t>• Foreign Simulators: </a:t>
            </a:r>
            <a:r>
              <a:rPr sz="1250" b="0">
                <a:latin typeface="Times New Roman"/>
              </a:rPr>
              <a:t>Expensive per-seat licenses, English-only, heavy hardware</a:t>
            </a:r>
          </a:p>
          <a:p>
            <a:pPr>
              <a:spcAft>
                <a:spcPts val="300"/>
              </a:spcAft>
            </a:pPr>
            <a:r>
              <a:rPr sz="1250" b="1">
                <a:latin typeface="Times New Roman"/>
              </a:rPr>
              <a:t>• PathFinder RPL: </a:t>
            </a:r>
            <a:r>
              <a:rPr sz="1250" b="0">
                <a:latin typeface="Times New Roman"/>
              </a:rPr>
              <a:t>70% Tool Sim + Vernacular Viva + ZPD Bridge + W3C VC</a:t>
            </a:r>
          </a:p>
        </p:txBody>
      </p:sp>
      <p:sp>
        <p:nvSpPr>
          <p:cNvPr id="179" name="Google Shape;179;p6"/>
          <p:cNvSpPr txBox="1"/>
          <p:nvPr/>
        </p:nvSpPr>
        <p:spPr>
          <a:xfrm>
            <a:off x="6195780" y="3842590"/>
            <a:ext cx="5651400" cy="26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>
              <a:spcAft>
                <a:spcPts val="400"/>
              </a:spcAft>
            </a:pPr>
            <a:r>
              <a:rPr sz="2100" b="1">
                <a:latin typeface="Times New Roman"/>
              </a:rPr>
              <a:t>Policy &amp; Ecosystem Analysis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NSQF Descriptors: </a:t>
            </a:r>
            <a:r>
              <a:rPr sz="1150" b="0">
                <a:latin typeface="Times New Roman"/>
              </a:rPr>
              <a:t>Level 3 &amp; 4 National Occupational Standards (NOS)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PMKVY 4.0 Guidelines: </a:t>
            </a:r>
            <a:r>
              <a:rPr sz="1150" b="0">
                <a:latin typeface="Times New Roman"/>
              </a:rPr>
              <a:t>Continuous evaluation and mandatory candidate orientation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W3C VC Standard: </a:t>
            </a:r>
            <a:r>
              <a:rPr sz="1150" b="0">
                <a:latin typeface="Times New Roman"/>
              </a:rPr>
              <a:t>Ed25519 digital cryptographic signatures &amp; JSON-LD schema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National APIs: </a:t>
            </a:r>
            <a:r>
              <a:rPr sz="1150" b="0">
                <a:latin typeface="Times New Roman"/>
              </a:rPr>
              <a:t>DigiLocker &amp; Skill India Digital Hub (SIDH) verification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Data Governance: </a:t>
            </a:r>
            <a:r>
              <a:rPr sz="1150" b="0">
                <a:latin typeface="Times New Roman"/>
              </a:rPr>
              <a:t>Digital Personal Data Protection (DPDP) Act 2023 compliance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Statutory Wage Floors: </a:t>
            </a:r>
            <a:r>
              <a:rPr sz="1150" b="0">
                <a:latin typeface="Times New Roman"/>
              </a:rPr>
              <a:t>Scheduled Employment Minimum Wage Framework</a:t>
            </a:r>
          </a:p>
          <a:p>
            <a:pPr>
              <a:spcAft>
                <a:spcPts val="200"/>
              </a:spcAft>
            </a:pPr>
            <a:r>
              <a:rPr sz="1150" b="1">
                <a:latin typeface="Times New Roman"/>
              </a:rPr>
              <a:t>• Industry Linkages: </a:t>
            </a:r>
            <a:r>
              <a:rPr sz="1150" b="0">
                <a:latin typeface="Times New Roman"/>
              </a:rPr>
              <a:t>NATS &amp; NAPS apprenticeship placement pipeline</a:t>
            </a:r>
          </a:p>
        </p:txBody>
      </p:sp>
      <p:sp>
        <p:nvSpPr>
          <p:cNvPr descr="Your startup LOGO" id="180" name="Google Shape;180;p6"/>
          <p:cNvSpPr/>
          <p:nvPr/>
        </p:nvSpPr>
        <p:spPr>
          <a:xfrm>
            <a:off x="97825" y="93500"/>
            <a:ext cx="1681800" cy="7227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PERCEPTRON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6946" y="47025"/>
            <a:ext cx="1771528" cy="9024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182" name="Google Shape;182;p6"/>
          <p:cNvSpPr/>
          <p:nvPr/>
        </p:nvSpPr>
        <p:spPr>
          <a:xfrm>
            <a:off x="2577640" y="6550509"/>
            <a:ext cx="1890918" cy="298728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sng" cap="none" strike="noStrike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4"/>
              </a:rPr>
              <a:t>SOURCE CODE</a:t>
            </a:r>
            <a:endParaRPr b="0" i="0" sz="14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5091171" y="6526537"/>
            <a:ext cx="1890918" cy="298728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sng" cap="none" strike="noStrike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5"/>
              </a:rPr>
              <a:t>LIVE DEMO</a:t>
            </a:r>
            <a:endParaRPr b="0" i="0" sz="14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7518440" y="6563924"/>
            <a:ext cx="1890918" cy="298728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5"/>
              </a:rPr>
              <a:t>VIDEO</a:t>
            </a:r>
            <a:endParaRPr b="0" i="0" sz="14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